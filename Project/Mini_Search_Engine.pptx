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E33"/>
        </a:solidFill>
      </p:bgPr>
    </p:bg>
    <p:spTree>
      <p:nvGrpSpPr>
        <p:cNvPr id="1" name=""/>
        <p:cNvGrpSpPr/>
        <p:nvPr/>
      </p:nvGrpSpPr>
      <p:grpSpPr>
        <a:xfrm>
          <a:off x="0" y="0"/>
          <a:ext cx="0" cy="0"/>
          <a:chOff x="0" y="0"/>
          <a:chExt cx="0" cy="0"/>
        </a:xfrm>
      </p:grpSpPr>
      <p:sp>
        <p:nvSpPr>
          <p:cNvPr id="2" name="Shape 0"/>
          <p:cNvSpPr/>
          <p:nvPr/>
        </p:nvSpPr>
        <p:spPr>
          <a:xfrm>
            <a:off x="9692640" y="-1280160"/>
            <a:ext cx="4114800" cy="4114800"/>
          </a:xfrm>
          <a:prstGeom prst="ellipse">
            <a:avLst/>
          </a:prstGeom>
          <a:solidFill>
            <a:srgbClr val="028090">
              <a:alpha val="45000"/>
            </a:srgbClr>
          </a:solidFill>
          <a:ln/>
        </p:spPr>
      </p:sp>
      <p:sp>
        <p:nvSpPr>
          <p:cNvPr id="3" name="Shape 1"/>
          <p:cNvSpPr/>
          <p:nvPr/>
        </p:nvSpPr>
        <p:spPr>
          <a:xfrm>
            <a:off x="10789920" y="4206240"/>
            <a:ext cx="2926080" cy="2926080"/>
          </a:xfrm>
          <a:prstGeom prst="ellipse">
            <a:avLst/>
          </a:prstGeom>
          <a:solidFill>
            <a:srgbClr val="00A896">
              <a:alpha val="45000"/>
            </a:srgbClr>
          </a:solidFill>
          <a:ln/>
        </p:spPr>
      </p:sp>
      <p:sp>
        <p:nvSpPr>
          <p:cNvPr id="4" name="Text 2"/>
          <p:cNvSpPr/>
          <p:nvPr/>
        </p:nvSpPr>
        <p:spPr>
          <a:xfrm>
            <a:off x="731520" y="1417320"/>
            <a:ext cx="9144000" cy="365760"/>
          </a:xfrm>
          <a:prstGeom prst="rect">
            <a:avLst/>
          </a:prstGeom>
          <a:noFill/>
          <a:ln/>
        </p:spPr>
        <p:txBody>
          <a:bodyPr wrap="square"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DATA STRUCTURES AND ALGORITHMS – 3 (25CS2103E)</a:t>
            </a:r>
            <a:endParaRPr lang="en-US" sz="1300" dirty="0"/>
          </a:p>
        </p:txBody>
      </p:sp>
      <p:sp>
        <p:nvSpPr>
          <p:cNvPr id="5" name="Text 3"/>
          <p:cNvSpPr/>
          <p:nvPr/>
        </p:nvSpPr>
        <p:spPr>
          <a:xfrm>
            <a:off x="731520" y="1874520"/>
            <a:ext cx="9601200" cy="109728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Mini Search Engine</a:t>
            </a:r>
            <a:endParaRPr lang="en-US" sz="4400" dirty="0"/>
          </a:p>
        </p:txBody>
      </p:sp>
      <p:sp>
        <p:nvSpPr>
          <p:cNvPr id="6" name="Text 4"/>
          <p:cNvSpPr/>
          <p:nvPr/>
        </p:nvSpPr>
        <p:spPr>
          <a:xfrm>
            <a:off x="731520" y="2697480"/>
            <a:ext cx="9601200" cy="548640"/>
          </a:xfrm>
          <a:prstGeom prst="rect">
            <a:avLst/>
          </a:prstGeom>
          <a:noFill/>
          <a:ln/>
        </p:spPr>
        <p:txBody>
          <a:bodyPr wrap="square" rtlCol="0" anchor="ctr"/>
          <a:lstStyle/>
          <a:p>
            <a:pPr indent="0" marL="0">
              <a:buNone/>
            </a:pPr>
            <a:r>
              <a:rPr lang="en-US" sz="2000" i="1" dirty="0">
                <a:solidFill>
                  <a:srgbClr val="CFEAE8"/>
                </a:solidFill>
                <a:latin typeface="Calibri" pitchFamily="34" charset="0"/>
                <a:ea typeface="Calibri" pitchFamily="34" charset="-122"/>
                <a:cs typeface="Calibri" pitchFamily="34" charset="-120"/>
              </a:rPr>
              <a:t>Information Retrieval System</a:t>
            </a:r>
            <a:endParaRPr lang="en-US" sz="2000" dirty="0"/>
          </a:p>
        </p:txBody>
      </p:sp>
      <p:sp>
        <p:nvSpPr>
          <p:cNvPr id="7" name="Shape 5"/>
          <p:cNvSpPr/>
          <p:nvPr/>
        </p:nvSpPr>
        <p:spPr>
          <a:xfrm>
            <a:off x="731520" y="4160520"/>
            <a:ext cx="2743200" cy="0"/>
          </a:xfrm>
          <a:prstGeom prst="line">
            <a:avLst/>
          </a:prstGeom>
          <a:noFill/>
          <a:ln w="25400">
            <a:solidFill>
              <a:srgbClr val="00A896"/>
            </a:solidFill>
            <a:prstDash val="solid"/>
          </a:ln>
        </p:spPr>
      </p:sp>
      <p:sp>
        <p:nvSpPr>
          <p:cNvPr id="8" name="Text 6"/>
          <p:cNvSpPr/>
          <p:nvPr/>
        </p:nvSpPr>
        <p:spPr>
          <a:xfrm>
            <a:off x="731520" y="4434840"/>
            <a:ext cx="5943600" cy="2011680"/>
          </a:xfrm>
          <a:prstGeom prst="rect">
            <a:avLst/>
          </a:prstGeom>
          <a:noFill/>
          <a:ln/>
        </p:spPr>
        <p:txBody>
          <a:bodyPr wrap="square" rtlCol="0" anchor="ctr"/>
          <a:lstStyle/>
          <a:p>
            <a:pPr indent="0" marL="0">
              <a:lnSpc>
                <a:spcPts val="2000"/>
              </a:lnSpc>
              <a:buNone/>
            </a:pPr>
            <a:r>
              <a:rPr lang="en-US" sz="1300" b="1" dirty="0">
                <a:solidFill>
                  <a:srgbClr val="02C39A"/>
                </a:solidFill>
                <a:latin typeface="Calibri" pitchFamily="34" charset="0"/>
                <a:ea typeface="Calibri" pitchFamily="34" charset="-122"/>
                <a:cs typeface="Calibri" pitchFamily="34" charset="-120"/>
              </a:rPr>
              <a:t>Submitted by
</a:t>
            </a:r>
            <a:pPr indent="0" marL="0">
              <a:lnSpc>
                <a:spcPts val="2000"/>
              </a:lnSpc>
              <a:buNone/>
            </a:pPr>
            <a:r>
              <a:rPr lang="en-US" sz="1400" dirty="0">
                <a:solidFill>
                  <a:srgbClr val="FFFFFF"/>
                </a:solidFill>
                <a:latin typeface="Calibri" pitchFamily="34" charset="0"/>
                <a:ea typeface="Calibri" pitchFamily="34" charset="-122"/>
                <a:cs typeface="Calibri" pitchFamily="34" charset="-120"/>
              </a:rPr>
              <a:t>Surapuraju Himasree (2520090181)
</a:t>
            </a:r>
            <a:pPr indent="0" marL="0">
              <a:lnSpc>
                <a:spcPts val="2000"/>
              </a:lnSpc>
              <a:buNone/>
            </a:pPr>
            <a:r>
              <a:rPr lang="en-US" sz="1400" dirty="0">
                <a:solidFill>
                  <a:srgbClr val="FFFFFF"/>
                </a:solidFill>
                <a:latin typeface="Calibri" pitchFamily="34" charset="0"/>
                <a:ea typeface="Calibri" pitchFamily="34" charset="-122"/>
                <a:cs typeface="Calibri" pitchFamily="34" charset="-120"/>
              </a:rPr>
              <a:t>Rachapudi Nishanth (2520090141)
</a:t>
            </a:r>
            <a:pPr indent="0" marL="0">
              <a:lnSpc>
                <a:spcPts val="2000"/>
              </a:lnSpc>
              <a:buNone/>
            </a:pPr>
            <a:r>
              <a:rPr lang="en-US" sz="1200" dirty="0">
                <a:solidFill>
                  <a:srgbClr val="CFEAE8"/>
                </a:solidFill>
                <a:latin typeface="Calibri" pitchFamily="34" charset="0"/>
                <a:ea typeface="Calibri" pitchFamily="34" charset="-122"/>
                <a:cs typeface="Calibri" pitchFamily="34" charset="-120"/>
              </a:rPr>
              <a:t>Section 10
</a:t>
            </a:r>
            <a:pPr indent="0" marL="0">
              <a:lnSpc>
                <a:spcPts val="2000"/>
              </a:lnSpc>
              <a:buNone/>
            </a:pPr>
            <a:r>
              <a:rPr lang="en-US" sz="1300" b="1" dirty="0">
                <a:solidFill>
                  <a:srgbClr val="02C39A"/>
                </a:solidFill>
                <a:latin typeface="Calibri" pitchFamily="34" charset="0"/>
                <a:ea typeface="Calibri" pitchFamily="34" charset="-122"/>
                <a:cs typeface="Calibri" pitchFamily="34" charset="-120"/>
              </a:rPr>
              <a:t>Under the guidance of
</a:t>
            </a:r>
            <a:pPr indent="0" marL="0">
              <a:lnSpc>
                <a:spcPts val="2000"/>
              </a:lnSpc>
              <a:buNone/>
            </a:pPr>
            <a:r>
              <a:rPr lang="en-US" sz="1400" dirty="0">
                <a:solidFill>
                  <a:srgbClr val="FFFFFF"/>
                </a:solidFill>
                <a:latin typeface="Calibri" pitchFamily="34" charset="0"/>
                <a:ea typeface="Calibri" pitchFamily="34" charset="-122"/>
                <a:cs typeface="Calibri" pitchFamily="34" charset="-120"/>
              </a:rPr>
              <a:t>K. Chandusha, Asst. Prof., CS&amp;IT</a:t>
            </a:r>
            <a:endParaRPr lang="en-US" sz="1300" dirty="0"/>
          </a:p>
        </p:txBody>
      </p:sp>
      <p:sp>
        <p:nvSpPr>
          <p:cNvPr id="9" name="Text 7"/>
          <p:cNvSpPr/>
          <p:nvPr/>
        </p:nvSpPr>
        <p:spPr>
          <a:xfrm>
            <a:off x="8778240" y="6172200"/>
            <a:ext cx="2743200" cy="365760"/>
          </a:xfrm>
          <a:prstGeom prst="rect">
            <a:avLst/>
          </a:prstGeom>
          <a:noFill/>
          <a:ln/>
        </p:spPr>
        <p:txBody>
          <a:bodyPr wrap="square" rtlCol="0" anchor="ctr"/>
          <a:lstStyle/>
          <a:p>
            <a:pPr algn="r" indent="0" marL="0">
              <a:buNone/>
            </a:pPr>
            <a:r>
              <a:rPr lang="en-US" sz="1200" dirty="0">
                <a:solidFill>
                  <a:srgbClr val="CFEAE8"/>
                </a:solidFill>
                <a:latin typeface="Calibri" pitchFamily="34" charset="0"/>
                <a:ea typeface="Calibri" pitchFamily="34" charset="-122"/>
                <a:cs typeface="Calibri" pitchFamily="34" charset="-120"/>
              </a:rPr>
              <a:t>A.Y. 2026–2027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640080"/>
          </a:xfrm>
          <a:prstGeom prst="rect">
            <a:avLst/>
          </a:prstGeom>
          <a:noFill/>
          <a:ln/>
        </p:spPr>
        <p:txBody>
          <a:bodyPr wrap="square" rtlCol="0" anchor="ctr"/>
          <a:lstStyle/>
          <a:p>
            <a:pPr indent="0" marL="0">
              <a:buNone/>
            </a:pPr>
            <a:r>
              <a:rPr lang="en-US" sz="3400" b="1" dirty="0">
                <a:solidFill>
                  <a:srgbClr val="16302F"/>
                </a:solidFill>
                <a:latin typeface="Cambria" pitchFamily="34" charset="0"/>
                <a:ea typeface="Cambria" pitchFamily="34" charset="-122"/>
                <a:cs typeface="Cambria" pitchFamily="34" charset="-120"/>
              </a:rPr>
              <a:t>Introduction</a:t>
            </a:r>
            <a:endParaRPr lang="en-US" sz="3400" dirty="0"/>
          </a:p>
        </p:txBody>
      </p:sp>
      <p:sp>
        <p:nvSpPr>
          <p:cNvPr id="3" name="Shape 1"/>
          <p:cNvSpPr/>
          <p:nvPr/>
        </p:nvSpPr>
        <p:spPr>
          <a:xfrm>
            <a:off x="9692640" y="-1188720"/>
            <a:ext cx="3291840" cy="3291840"/>
          </a:xfrm>
          <a:prstGeom prst="ellipse">
            <a:avLst/>
          </a:prstGeom>
          <a:solidFill>
            <a:srgbClr val="028090">
              <a:alpha val="12000"/>
            </a:srgbClr>
          </a:solidFill>
          <a:ln/>
        </p:spPr>
      </p:sp>
      <p:sp>
        <p:nvSpPr>
          <p:cNvPr id="4" name="Shape 2"/>
          <p:cNvSpPr/>
          <p:nvPr/>
        </p:nvSpPr>
        <p:spPr>
          <a:xfrm>
            <a:off x="640080" y="1417320"/>
            <a:ext cx="502920" cy="502920"/>
          </a:xfrm>
          <a:prstGeom prst="ellipse">
            <a:avLst/>
          </a:prstGeom>
          <a:solidFill>
            <a:srgbClr val="028090"/>
          </a:solidFill>
          <a:ln/>
        </p:spPr>
      </p:sp>
      <p:sp>
        <p:nvSpPr>
          <p:cNvPr id="5" name="Text 3"/>
          <p:cNvSpPr/>
          <p:nvPr/>
        </p:nvSpPr>
        <p:spPr>
          <a:xfrm>
            <a:off x="640080" y="1417320"/>
            <a:ext cx="502920" cy="50292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1417320" y="1371600"/>
            <a:ext cx="4572000" cy="365760"/>
          </a:xfrm>
          <a:prstGeom prst="rect">
            <a:avLst/>
          </a:prstGeom>
          <a:noFill/>
          <a:ln/>
        </p:spPr>
        <p:txBody>
          <a:bodyPr wrap="square" rtlCol="0" anchor="ctr"/>
          <a:lstStyle/>
          <a:p>
            <a:pPr indent="0" marL="0">
              <a:buNone/>
            </a:pPr>
            <a:r>
              <a:rPr lang="en-US" sz="1600" b="1" dirty="0">
                <a:solidFill>
                  <a:srgbClr val="16302F"/>
                </a:solidFill>
                <a:latin typeface="Calibri" pitchFamily="34" charset="0"/>
                <a:ea typeface="Calibri" pitchFamily="34" charset="-122"/>
                <a:cs typeface="Calibri" pitchFamily="34" charset="-120"/>
              </a:rPr>
              <a:t>Growing Information</a:t>
            </a:r>
            <a:endParaRPr lang="en-US" sz="1600" dirty="0"/>
          </a:p>
        </p:txBody>
      </p:sp>
      <p:sp>
        <p:nvSpPr>
          <p:cNvPr id="7" name="Text 5"/>
          <p:cNvSpPr/>
          <p:nvPr/>
        </p:nvSpPr>
        <p:spPr>
          <a:xfrm>
            <a:off x="1417320" y="1737360"/>
            <a:ext cx="4663440" cy="777240"/>
          </a:xfrm>
          <a:prstGeom prst="rect">
            <a:avLst/>
          </a:prstGeom>
          <a:noFill/>
          <a:ln/>
        </p:spPr>
        <p:txBody>
          <a:bodyPr wrap="square" rtlCol="0" anchor="ctr"/>
          <a:lstStyle/>
          <a:p>
            <a:pPr indent="0" marL="0">
              <a:lnSpc>
                <a:spcPts val="1600"/>
              </a:lnSpc>
              <a:buNone/>
            </a:pPr>
            <a:r>
              <a:rPr lang="en-US" sz="1250" dirty="0">
                <a:solidFill>
                  <a:srgbClr val="5C7A78"/>
                </a:solidFill>
                <a:latin typeface="Calibri" pitchFamily="34" charset="0"/>
                <a:ea typeface="Calibri" pitchFamily="34" charset="-122"/>
                <a:cs typeface="Calibri" pitchFamily="34" charset="-120"/>
              </a:rPr>
              <a:t>As digital text collections grow rapidly, manually scanning documents to find relevant information becomes slow and impractical.</a:t>
            </a:r>
            <a:endParaRPr lang="en-US" sz="1250" dirty="0"/>
          </a:p>
        </p:txBody>
      </p:sp>
      <p:sp>
        <p:nvSpPr>
          <p:cNvPr id="8" name="Shape 6"/>
          <p:cNvSpPr/>
          <p:nvPr/>
        </p:nvSpPr>
        <p:spPr>
          <a:xfrm>
            <a:off x="640080" y="2587752"/>
            <a:ext cx="502920" cy="502920"/>
          </a:xfrm>
          <a:prstGeom prst="ellipse">
            <a:avLst/>
          </a:prstGeom>
          <a:solidFill>
            <a:srgbClr val="028090"/>
          </a:solidFill>
          <a:ln/>
        </p:spPr>
      </p:sp>
      <p:sp>
        <p:nvSpPr>
          <p:cNvPr id="9" name="Text 7"/>
          <p:cNvSpPr/>
          <p:nvPr/>
        </p:nvSpPr>
        <p:spPr>
          <a:xfrm>
            <a:off x="640080" y="2587752"/>
            <a:ext cx="502920" cy="50292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p:nvPr/>
        </p:nvSpPr>
        <p:spPr>
          <a:xfrm>
            <a:off x="1417320" y="2542032"/>
            <a:ext cx="4572000" cy="365760"/>
          </a:xfrm>
          <a:prstGeom prst="rect">
            <a:avLst/>
          </a:prstGeom>
          <a:noFill/>
          <a:ln/>
        </p:spPr>
        <p:txBody>
          <a:bodyPr wrap="square" rtlCol="0" anchor="ctr"/>
          <a:lstStyle/>
          <a:p>
            <a:pPr indent="0" marL="0">
              <a:buNone/>
            </a:pPr>
            <a:r>
              <a:rPr lang="en-US" sz="1600" b="1" dirty="0">
                <a:solidFill>
                  <a:srgbClr val="16302F"/>
                </a:solidFill>
                <a:latin typeface="Calibri" pitchFamily="34" charset="0"/>
                <a:ea typeface="Calibri" pitchFamily="34" charset="-122"/>
                <a:cs typeface="Calibri" pitchFamily="34" charset="-120"/>
              </a:rPr>
              <a:t>Purpose of the Project</a:t>
            </a:r>
            <a:endParaRPr lang="en-US" sz="1600" dirty="0"/>
          </a:p>
        </p:txBody>
      </p:sp>
      <p:sp>
        <p:nvSpPr>
          <p:cNvPr id="11" name="Text 9"/>
          <p:cNvSpPr/>
          <p:nvPr/>
        </p:nvSpPr>
        <p:spPr>
          <a:xfrm>
            <a:off x="1417320" y="2907792"/>
            <a:ext cx="4663440" cy="777240"/>
          </a:xfrm>
          <a:prstGeom prst="rect">
            <a:avLst/>
          </a:prstGeom>
          <a:noFill/>
          <a:ln/>
        </p:spPr>
        <p:txBody>
          <a:bodyPr wrap="square" rtlCol="0" anchor="ctr"/>
          <a:lstStyle/>
          <a:p>
            <a:pPr indent="0" marL="0">
              <a:lnSpc>
                <a:spcPts val="1600"/>
              </a:lnSpc>
              <a:buNone/>
            </a:pPr>
            <a:r>
              <a:rPr lang="en-US" sz="1250" dirty="0">
                <a:solidFill>
                  <a:srgbClr val="5C7A78"/>
                </a:solidFill>
                <a:latin typeface="Calibri" pitchFamily="34" charset="0"/>
                <a:ea typeface="Calibri" pitchFamily="34" charset="-122"/>
                <a:cs typeface="Calibri" pitchFamily="34" charset="-120"/>
              </a:rPr>
              <a:t>The Mini Search Engine retrieves relevant information from a collection of text documents quickly and accurately.</a:t>
            </a:r>
            <a:endParaRPr lang="en-US" sz="1250" dirty="0"/>
          </a:p>
        </p:txBody>
      </p:sp>
      <p:sp>
        <p:nvSpPr>
          <p:cNvPr id="12" name="Shape 10"/>
          <p:cNvSpPr/>
          <p:nvPr/>
        </p:nvSpPr>
        <p:spPr>
          <a:xfrm>
            <a:off x="640080" y="3758184"/>
            <a:ext cx="502920" cy="502920"/>
          </a:xfrm>
          <a:prstGeom prst="ellipse">
            <a:avLst/>
          </a:prstGeom>
          <a:solidFill>
            <a:srgbClr val="028090"/>
          </a:solidFill>
          <a:ln/>
        </p:spPr>
      </p:sp>
      <p:sp>
        <p:nvSpPr>
          <p:cNvPr id="13" name="Text 11"/>
          <p:cNvSpPr/>
          <p:nvPr/>
        </p:nvSpPr>
        <p:spPr>
          <a:xfrm>
            <a:off x="640080" y="3758184"/>
            <a:ext cx="502920" cy="50292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4" name="Text 12"/>
          <p:cNvSpPr/>
          <p:nvPr/>
        </p:nvSpPr>
        <p:spPr>
          <a:xfrm>
            <a:off x="1417320" y="3712464"/>
            <a:ext cx="4572000" cy="365760"/>
          </a:xfrm>
          <a:prstGeom prst="rect">
            <a:avLst/>
          </a:prstGeom>
          <a:noFill/>
          <a:ln/>
        </p:spPr>
        <p:txBody>
          <a:bodyPr wrap="square" rtlCol="0" anchor="ctr"/>
          <a:lstStyle/>
          <a:p>
            <a:pPr indent="0" marL="0">
              <a:buNone/>
            </a:pPr>
            <a:r>
              <a:rPr lang="en-US" sz="1600" b="1" dirty="0">
                <a:solidFill>
                  <a:srgbClr val="16302F"/>
                </a:solidFill>
                <a:latin typeface="Calibri" pitchFamily="34" charset="0"/>
                <a:ea typeface="Calibri" pitchFamily="34" charset="-122"/>
                <a:cs typeface="Calibri" pitchFamily="34" charset="-120"/>
              </a:rPr>
              <a:t>Core Idea</a:t>
            </a:r>
            <a:endParaRPr lang="en-US" sz="1600" dirty="0"/>
          </a:p>
        </p:txBody>
      </p:sp>
      <p:sp>
        <p:nvSpPr>
          <p:cNvPr id="15" name="Text 13"/>
          <p:cNvSpPr/>
          <p:nvPr/>
        </p:nvSpPr>
        <p:spPr>
          <a:xfrm>
            <a:off x="1417320" y="4078224"/>
            <a:ext cx="4663440" cy="777240"/>
          </a:xfrm>
          <a:prstGeom prst="rect">
            <a:avLst/>
          </a:prstGeom>
          <a:noFill/>
          <a:ln/>
        </p:spPr>
        <p:txBody>
          <a:bodyPr wrap="square" rtlCol="0" anchor="ctr"/>
          <a:lstStyle/>
          <a:p>
            <a:pPr indent="0" marL="0">
              <a:lnSpc>
                <a:spcPts val="1600"/>
              </a:lnSpc>
              <a:buNone/>
            </a:pPr>
            <a:r>
              <a:rPr lang="en-US" sz="1250" dirty="0">
                <a:solidFill>
                  <a:srgbClr val="5C7A78"/>
                </a:solidFill>
                <a:latin typeface="Calibri" pitchFamily="34" charset="0"/>
                <a:ea typeface="Calibri" pitchFamily="34" charset="-122"/>
                <a:cs typeface="Calibri" pitchFamily="34" charset="-120"/>
              </a:rPr>
              <a:t>Documents are organized using an indexing mechanism so users can locate information without reading every file.</a:t>
            </a:r>
            <a:endParaRPr lang="en-US" sz="1250" dirty="0"/>
          </a:p>
        </p:txBody>
      </p:sp>
      <p:sp>
        <p:nvSpPr>
          <p:cNvPr id="16" name="Shape 14"/>
          <p:cNvSpPr/>
          <p:nvPr/>
        </p:nvSpPr>
        <p:spPr>
          <a:xfrm>
            <a:off x="640080" y="4928616"/>
            <a:ext cx="502920" cy="502920"/>
          </a:xfrm>
          <a:prstGeom prst="ellipse">
            <a:avLst/>
          </a:prstGeom>
          <a:solidFill>
            <a:srgbClr val="028090"/>
          </a:solidFill>
          <a:ln/>
        </p:spPr>
      </p:sp>
      <p:sp>
        <p:nvSpPr>
          <p:cNvPr id="17" name="Text 15"/>
          <p:cNvSpPr/>
          <p:nvPr/>
        </p:nvSpPr>
        <p:spPr>
          <a:xfrm>
            <a:off x="640080" y="4928616"/>
            <a:ext cx="502920" cy="50292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8" name="Text 16"/>
          <p:cNvSpPr/>
          <p:nvPr/>
        </p:nvSpPr>
        <p:spPr>
          <a:xfrm>
            <a:off x="1417320" y="4882896"/>
            <a:ext cx="4572000" cy="365760"/>
          </a:xfrm>
          <a:prstGeom prst="rect">
            <a:avLst/>
          </a:prstGeom>
          <a:noFill/>
          <a:ln/>
        </p:spPr>
        <p:txBody>
          <a:bodyPr wrap="square" rtlCol="0" anchor="ctr"/>
          <a:lstStyle/>
          <a:p>
            <a:pPr indent="0" marL="0">
              <a:buNone/>
            </a:pPr>
            <a:r>
              <a:rPr lang="en-US" sz="1600" b="1" dirty="0">
                <a:solidFill>
                  <a:srgbClr val="16302F"/>
                </a:solidFill>
                <a:latin typeface="Calibri" pitchFamily="34" charset="0"/>
                <a:ea typeface="Calibri" pitchFamily="34" charset="-122"/>
                <a:cs typeface="Calibri" pitchFamily="34" charset="-120"/>
              </a:rPr>
              <a:t>Learning Focus</a:t>
            </a:r>
            <a:endParaRPr lang="en-US" sz="1600" dirty="0"/>
          </a:p>
        </p:txBody>
      </p:sp>
      <p:sp>
        <p:nvSpPr>
          <p:cNvPr id="19" name="Text 17"/>
          <p:cNvSpPr/>
          <p:nvPr/>
        </p:nvSpPr>
        <p:spPr>
          <a:xfrm>
            <a:off x="1417320" y="5248656"/>
            <a:ext cx="4663440" cy="777240"/>
          </a:xfrm>
          <a:prstGeom prst="rect">
            <a:avLst/>
          </a:prstGeom>
          <a:noFill/>
          <a:ln/>
        </p:spPr>
        <p:txBody>
          <a:bodyPr wrap="square" rtlCol="0" anchor="ctr"/>
          <a:lstStyle/>
          <a:p>
            <a:pPr indent="0" marL="0">
              <a:lnSpc>
                <a:spcPts val="1600"/>
              </a:lnSpc>
              <a:buNone/>
            </a:pPr>
            <a:r>
              <a:rPr lang="en-US" sz="1250" dirty="0">
                <a:solidFill>
                  <a:srgbClr val="5C7A78"/>
                </a:solidFill>
                <a:latin typeface="Calibri" pitchFamily="34" charset="0"/>
                <a:ea typeface="Calibri" pitchFamily="34" charset="-122"/>
                <a:cs typeface="Calibri" pitchFamily="34" charset="-120"/>
              </a:rPr>
              <a:t>Core search algorithms are built from scratch, giving hands-on insight into indexing, ranking, and string processing.</a:t>
            </a:r>
            <a:endParaRPr lang="en-US" sz="1250" dirty="0"/>
          </a:p>
        </p:txBody>
      </p:sp>
      <p:sp>
        <p:nvSpPr>
          <p:cNvPr id="20" name="Shape 18"/>
          <p:cNvSpPr/>
          <p:nvPr/>
        </p:nvSpPr>
        <p:spPr>
          <a:xfrm>
            <a:off x="6537960" y="1417320"/>
            <a:ext cx="4983480" cy="4480560"/>
          </a:xfrm>
          <a:prstGeom prst="roundRect">
            <a:avLst>
              <a:gd name="adj" fmla="val 2449"/>
            </a:avLst>
          </a:prstGeom>
          <a:solidFill>
            <a:srgbClr val="0B2E33"/>
          </a:solidFill>
          <a:ln/>
          <a:effectLst>
            <a:outerShdw sx="100000" sy="100000" kx="0" ky="0" algn="bl" rotWithShape="0" blurRad="101600" dist="38100" dir="5400000">
              <a:srgbClr val="000000">
                <a:alpha val="25000"/>
              </a:srgbClr>
            </a:outerShdw>
          </a:effectLst>
        </p:spPr>
      </p:sp>
      <p:sp>
        <p:nvSpPr>
          <p:cNvPr id="21" name="Text 19"/>
          <p:cNvSpPr/>
          <p:nvPr/>
        </p:nvSpPr>
        <p:spPr>
          <a:xfrm>
            <a:off x="6903720" y="1691640"/>
            <a:ext cx="4297680" cy="411480"/>
          </a:xfrm>
          <a:prstGeom prst="rect">
            <a:avLst/>
          </a:prstGeom>
          <a:noFill/>
          <a:ln/>
        </p:spPr>
        <p:txBody>
          <a:bodyPr wrap="square" rtlCol="0" anchor="ctr"/>
          <a:lstStyle/>
          <a:p>
            <a:pPr indent="0" marL="0">
              <a:buNone/>
            </a:pPr>
            <a:r>
              <a:rPr lang="en-US" sz="1800" b="1" dirty="0">
                <a:solidFill>
                  <a:srgbClr val="02C39A"/>
                </a:solidFill>
                <a:latin typeface="Cambria" pitchFamily="34" charset="0"/>
                <a:ea typeface="Cambria" pitchFamily="34" charset="-122"/>
                <a:cs typeface="Cambria" pitchFamily="34" charset="-120"/>
              </a:rPr>
              <a:t>Why It Matters</a:t>
            </a:r>
            <a:endParaRPr lang="en-US" sz="1800" dirty="0"/>
          </a:p>
        </p:txBody>
      </p:sp>
      <p:sp>
        <p:nvSpPr>
          <p:cNvPr id="22" name="Shape 20"/>
          <p:cNvSpPr/>
          <p:nvPr/>
        </p:nvSpPr>
        <p:spPr>
          <a:xfrm>
            <a:off x="6903720" y="2359152"/>
            <a:ext cx="109728" cy="109728"/>
          </a:xfrm>
          <a:prstGeom prst="ellipse">
            <a:avLst/>
          </a:prstGeom>
          <a:solidFill>
            <a:srgbClr val="00A896"/>
          </a:solidFill>
          <a:ln/>
        </p:spPr>
      </p:sp>
      <p:sp>
        <p:nvSpPr>
          <p:cNvPr id="23" name="Text 21"/>
          <p:cNvSpPr/>
          <p:nvPr/>
        </p:nvSpPr>
        <p:spPr>
          <a:xfrm>
            <a:off x="7178040" y="2212848"/>
            <a:ext cx="4160520" cy="685800"/>
          </a:xfrm>
          <a:prstGeom prst="rect">
            <a:avLst/>
          </a:prstGeom>
          <a:noFill/>
          <a:ln/>
        </p:spPr>
        <p:txBody>
          <a:bodyPr wrap="square" rtlCol="0" anchor="ctr"/>
          <a:lstStyle/>
          <a:p>
            <a:pPr indent="0" marL="0">
              <a:lnSpc>
                <a:spcPts val="1700"/>
              </a:lnSpc>
              <a:buNone/>
            </a:pPr>
            <a:r>
              <a:rPr lang="en-US" sz="1350" dirty="0">
                <a:solidFill>
                  <a:srgbClr val="F0F7F6"/>
                </a:solidFill>
                <a:latin typeface="Calibri" pitchFamily="34" charset="0"/>
                <a:ea typeface="Calibri" pitchFamily="34" charset="-122"/>
                <a:cs typeface="Calibri" pitchFamily="34" charset="-120"/>
              </a:rPr>
              <a:t>Fast, accurate, user-friendly search experience</a:t>
            </a:r>
            <a:endParaRPr lang="en-US" sz="1350" dirty="0"/>
          </a:p>
        </p:txBody>
      </p:sp>
      <p:sp>
        <p:nvSpPr>
          <p:cNvPr id="24" name="Shape 22"/>
          <p:cNvSpPr/>
          <p:nvPr/>
        </p:nvSpPr>
        <p:spPr>
          <a:xfrm>
            <a:off x="6903720" y="3255264"/>
            <a:ext cx="109728" cy="109728"/>
          </a:xfrm>
          <a:prstGeom prst="ellipse">
            <a:avLst/>
          </a:prstGeom>
          <a:solidFill>
            <a:srgbClr val="00A896"/>
          </a:solidFill>
          <a:ln/>
        </p:spPr>
      </p:sp>
      <p:sp>
        <p:nvSpPr>
          <p:cNvPr id="25" name="Text 23"/>
          <p:cNvSpPr/>
          <p:nvPr/>
        </p:nvSpPr>
        <p:spPr>
          <a:xfrm>
            <a:off x="7178040" y="3108960"/>
            <a:ext cx="4160520" cy="685800"/>
          </a:xfrm>
          <a:prstGeom prst="rect">
            <a:avLst/>
          </a:prstGeom>
          <a:noFill/>
          <a:ln/>
        </p:spPr>
        <p:txBody>
          <a:bodyPr wrap="square" rtlCol="0" anchor="ctr"/>
          <a:lstStyle/>
          <a:p>
            <a:pPr indent="0" marL="0">
              <a:lnSpc>
                <a:spcPts val="1700"/>
              </a:lnSpc>
              <a:buNone/>
            </a:pPr>
            <a:r>
              <a:rPr lang="en-US" sz="1350" dirty="0">
                <a:solidFill>
                  <a:srgbClr val="F0F7F6"/>
                </a:solidFill>
                <a:latin typeface="Calibri" pitchFamily="34" charset="0"/>
                <a:ea typeface="Calibri" pitchFamily="34" charset="-122"/>
                <a:cs typeface="Calibri" pitchFamily="34" charset="-120"/>
              </a:rPr>
              <a:t>Supports keyword, phrase, fuzzy, and similarity search</a:t>
            </a:r>
            <a:endParaRPr lang="en-US" sz="1350" dirty="0"/>
          </a:p>
        </p:txBody>
      </p:sp>
      <p:sp>
        <p:nvSpPr>
          <p:cNvPr id="26" name="Shape 24"/>
          <p:cNvSpPr/>
          <p:nvPr/>
        </p:nvSpPr>
        <p:spPr>
          <a:xfrm>
            <a:off x="6903720" y="4151376"/>
            <a:ext cx="109728" cy="109728"/>
          </a:xfrm>
          <a:prstGeom prst="ellipse">
            <a:avLst/>
          </a:prstGeom>
          <a:solidFill>
            <a:srgbClr val="00A896"/>
          </a:solidFill>
          <a:ln/>
        </p:spPr>
      </p:sp>
      <p:sp>
        <p:nvSpPr>
          <p:cNvPr id="27" name="Text 25"/>
          <p:cNvSpPr/>
          <p:nvPr/>
        </p:nvSpPr>
        <p:spPr>
          <a:xfrm>
            <a:off x="7178040" y="4005072"/>
            <a:ext cx="4160520" cy="685800"/>
          </a:xfrm>
          <a:prstGeom prst="rect">
            <a:avLst/>
          </a:prstGeom>
          <a:noFill/>
          <a:ln/>
        </p:spPr>
        <p:txBody>
          <a:bodyPr wrap="square" rtlCol="0" anchor="ctr"/>
          <a:lstStyle/>
          <a:p>
            <a:pPr indent="0" marL="0">
              <a:lnSpc>
                <a:spcPts val="1700"/>
              </a:lnSpc>
              <a:buNone/>
            </a:pPr>
            <a:r>
              <a:rPr lang="en-US" sz="1350" dirty="0">
                <a:solidFill>
                  <a:srgbClr val="F0F7F6"/>
                </a:solidFill>
                <a:latin typeface="Calibri" pitchFamily="34" charset="0"/>
                <a:ea typeface="Calibri" pitchFamily="34" charset="-122"/>
                <a:cs typeface="Calibri" pitchFamily="34" charset="-120"/>
              </a:rPr>
              <a:t>Ranks results by relevance so top results matter most</a:t>
            </a:r>
            <a:endParaRPr lang="en-US" sz="1350" dirty="0"/>
          </a:p>
        </p:txBody>
      </p:sp>
      <p:sp>
        <p:nvSpPr>
          <p:cNvPr id="28" name="Shape 26"/>
          <p:cNvSpPr/>
          <p:nvPr/>
        </p:nvSpPr>
        <p:spPr>
          <a:xfrm>
            <a:off x="6903720" y="5047488"/>
            <a:ext cx="109728" cy="109728"/>
          </a:xfrm>
          <a:prstGeom prst="ellipse">
            <a:avLst/>
          </a:prstGeom>
          <a:solidFill>
            <a:srgbClr val="00A896"/>
          </a:solidFill>
          <a:ln/>
        </p:spPr>
      </p:sp>
      <p:sp>
        <p:nvSpPr>
          <p:cNvPr id="29" name="Text 27"/>
          <p:cNvSpPr/>
          <p:nvPr/>
        </p:nvSpPr>
        <p:spPr>
          <a:xfrm>
            <a:off x="7178040" y="4901184"/>
            <a:ext cx="4160520" cy="685800"/>
          </a:xfrm>
          <a:prstGeom prst="rect">
            <a:avLst/>
          </a:prstGeom>
          <a:noFill/>
          <a:ln/>
        </p:spPr>
        <p:txBody>
          <a:bodyPr wrap="square" rtlCol="0" anchor="ctr"/>
          <a:lstStyle/>
          <a:p>
            <a:pPr indent="0" marL="0">
              <a:lnSpc>
                <a:spcPts val="1700"/>
              </a:lnSpc>
              <a:buNone/>
            </a:pPr>
            <a:r>
              <a:rPr lang="en-US" sz="1350" dirty="0">
                <a:solidFill>
                  <a:srgbClr val="F0F7F6"/>
                </a:solidFill>
                <a:latin typeface="Calibri" pitchFamily="34" charset="0"/>
                <a:ea typeface="Calibri" pitchFamily="34" charset="-122"/>
                <a:cs typeface="Calibri" pitchFamily="34" charset="-120"/>
              </a:rPr>
              <a:t>Applies core CS concepts: data structures &amp; algorithms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2E33"/>
        </a:solidFill>
      </p:bgPr>
    </p:bg>
    <p:spTree>
      <p:nvGrpSpPr>
        <p:cNvPr id="1" name=""/>
        <p:cNvGrpSpPr/>
        <p:nvPr/>
      </p:nvGrpSpPr>
      <p:grpSpPr>
        <a:xfrm>
          <a:off x="0" y="0"/>
          <a:ext cx="0" cy="0"/>
          <a:chOff x="0" y="0"/>
          <a:chExt cx="0" cy="0"/>
        </a:xfrm>
      </p:grpSpPr>
      <p:sp>
        <p:nvSpPr>
          <p:cNvPr id="2" name="Text 0"/>
          <p:cNvSpPr/>
          <p:nvPr/>
        </p:nvSpPr>
        <p:spPr>
          <a:xfrm>
            <a:off x="640080" y="457200"/>
            <a:ext cx="7315200" cy="64008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Abstract</a:t>
            </a:r>
            <a:endParaRPr lang="en-US" sz="3400" dirty="0"/>
          </a:p>
        </p:txBody>
      </p:sp>
      <p:sp>
        <p:nvSpPr>
          <p:cNvPr id="3" name="Shape 1"/>
          <p:cNvSpPr/>
          <p:nvPr/>
        </p:nvSpPr>
        <p:spPr>
          <a:xfrm>
            <a:off x="685800" y="1143000"/>
            <a:ext cx="1280160" cy="0"/>
          </a:xfrm>
          <a:prstGeom prst="line">
            <a:avLst/>
          </a:prstGeom>
          <a:noFill/>
          <a:ln w="38100">
            <a:solidFill>
              <a:srgbClr val="02C39A"/>
            </a:solidFill>
            <a:prstDash val="solid"/>
          </a:ln>
        </p:spPr>
      </p:sp>
      <p:sp>
        <p:nvSpPr>
          <p:cNvPr id="4" name="Shape 2"/>
          <p:cNvSpPr/>
          <p:nvPr/>
        </p:nvSpPr>
        <p:spPr>
          <a:xfrm>
            <a:off x="640080" y="1417320"/>
            <a:ext cx="10881360" cy="4892040"/>
          </a:xfrm>
          <a:prstGeom prst="roundRect">
            <a:avLst>
              <a:gd name="adj" fmla="val 2243"/>
            </a:avLst>
          </a:prstGeom>
          <a:solidFill>
            <a:srgbClr val="0F3A40"/>
          </a:solidFill>
          <a:ln/>
          <a:effectLst>
            <a:outerShdw sx="100000" sy="100000" kx="0" ky="0" algn="bl" rotWithShape="0" blurRad="101600" dist="38100" dir="5400000">
              <a:srgbClr val="000000">
                <a:alpha val="25000"/>
              </a:srgbClr>
            </a:outerShdw>
          </a:effectLst>
        </p:spPr>
      </p:sp>
      <p:sp>
        <p:nvSpPr>
          <p:cNvPr id="5" name="Text 3"/>
          <p:cNvSpPr/>
          <p:nvPr/>
        </p:nvSpPr>
        <p:spPr>
          <a:xfrm>
            <a:off x="1005840" y="1737360"/>
            <a:ext cx="10149840" cy="4297680"/>
          </a:xfrm>
          <a:prstGeom prst="rect">
            <a:avLst/>
          </a:prstGeom>
          <a:noFill/>
          <a:ln/>
        </p:spPr>
        <p:txBody>
          <a:bodyPr wrap="square" rtlCol="0" anchor="t"/>
          <a:lstStyle/>
          <a:p>
            <a:pPr algn="l" indent="0" marL="0">
              <a:lnSpc>
                <a:spcPts val="2000"/>
              </a:lnSpc>
              <a:buNone/>
            </a:pPr>
            <a:r>
              <a:rPr lang="en-US" sz="1350" dirty="0">
                <a:solidFill>
                  <a:srgbClr val="F0F7F6"/>
                </a:solidFill>
                <a:latin typeface="Calibri" pitchFamily="34" charset="0"/>
                <a:ea typeface="Calibri" pitchFamily="34" charset="-122"/>
                <a:cs typeface="Calibri" pitchFamily="34" charset="-120"/>
              </a:rPr>
              <a:t>The Mini Search Engine is a software application designed to efficiently search and retrieve relevant information from a collection of text documents. The primary objective of the project is to provide users with a fast, accurate, and user-friendly search experience by implementing different search techniques. The system organizes documents using an efficient indexing mechanism, allowing users to quickly locate the information they need without scanning every document manually. It supports multiple search methods, including exact keyword search, phrase search, fuzzy search for handling misspelled words, and document similarity search to identify documents related to the user's query. The retrieved documents are ranked according to their relevance, ensuring that the most useful results appear first. The project focuses on implementing the core search algorithms from scratch, providing a deeper understanding of information retrieval concepts and efficient search techniques. Appropriate data structures are used to improve search performance, reduce retrieval time, and handle large collections of documents effectively. The efficiency of each algorithm is analysed using time complexity to evaluate its performance. Overall, the Mini Search Engine demonstrates the practical application of data structures, string processing, indexing, and ranking algorithms in developing a simple yet effective document retrieval system, making it a valuable learning project in the field of computer science and software development.</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640080"/>
          </a:xfrm>
          <a:prstGeom prst="rect">
            <a:avLst/>
          </a:prstGeom>
          <a:noFill/>
          <a:ln/>
        </p:spPr>
        <p:txBody>
          <a:bodyPr wrap="square" rtlCol="0" anchor="ctr"/>
          <a:lstStyle/>
          <a:p>
            <a:pPr indent="0" marL="0">
              <a:buNone/>
            </a:pPr>
            <a:r>
              <a:rPr lang="en-US" sz="3400" b="1" dirty="0">
                <a:solidFill>
                  <a:srgbClr val="16302F"/>
                </a:solidFill>
                <a:latin typeface="Cambria" pitchFamily="34" charset="0"/>
                <a:ea typeface="Cambria" pitchFamily="34" charset="-122"/>
                <a:cs typeface="Cambria" pitchFamily="34" charset="-120"/>
              </a:rPr>
              <a:t>Software Requirements</a:t>
            </a:r>
            <a:endParaRPr lang="en-US" sz="3400" dirty="0"/>
          </a:p>
        </p:txBody>
      </p:sp>
      <p:sp>
        <p:nvSpPr>
          <p:cNvPr id="3" name="Shape 1"/>
          <p:cNvSpPr/>
          <p:nvPr/>
        </p:nvSpPr>
        <p:spPr>
          <a:xfrm>
            <a:off x="-1097280" y="4846320"/>
            <a:ext cx="3291840" cy="3291840"/>
          </a:xfrm>
          <a:prstGeom prst="ellipse">
            <a:avLst/>
          </a:prstGeom>
          <a:solidFill>
            <a:srgbClr val="028090">
              <a:alpha val="12000"/>
            </a:srgbClr>
          </a:solidFill>
          <a:ln/>
        </p:spPr>
      </p:sp>
      <p:sp>
        <p:nvSpPr>
          <p:cNvPr id="4" name="Shape 2"/>
          <p:cNvSpPr/>
          <p:nvPr/>
        </p:nvSpPr>
        <p:spPr>
          <a:xfrm>
            <a:off x="640080" y="1463040"/>
            <a:ext cx="5257800" cy="2148840"/>
          </a:xfrm>
          <a:prstGeom prst="roundRect">
            <a:avLst>
              <a:gd name="adj" fmla="val 4255"/>
            </a:avLst>
          </a:prstGeom>
          <a:solidFill>
            <a:srgbClr val="F2FAF9"/>
          </a:solidFill>
          <a:ln w="12700">
            <a:solidFill>
              <a:srgbClr val="D8ECEA"/>
            </a:solidFill>
            <a:prstDash val="solid"/>
          </a:ln>
        </p:spPr>
      </p:sp>
      <p:sp>
        <p:nvSpPr>
          <p:cNvPr id="5" name="Shape 3"/>
          <p:cNvSpPr/>
          <p:nvPr/>
        </p:nvSpPr>
        <p:spPr>
          <a:xfrm>
            <a:off x="914400" y="1737360"/>
            <a:ext cx="685800" cy="685800"/>
          </a:xfrm>
          <a:prstGeom prst="ellipse">
            <a:avLst/>
          </a:prstGeom>
          <a:solidFill>
            <a:srgbClr val="028090"/>
          </a:solidFill>
          <a:ln/>
        </p:spPr>
      </p:sp>
      <p:sp>
        <p:nvSpPr>
          <p:cNvPr id="6" name="Text 4"/>
          <p:cNvSpPr/>
          <p:nvPr/>
        </p:nvSpPr>
        <p:spPr>
          <a:xfrm>
            <a:off x="914400" y="1737360"/>
            <a:ext cx="685800" cy="685800"/>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J</a:t>
            </a:r>
            <a:endParaRPr lang="en-US" sz="2600" dirty="0"/>
          </a:p>
        </p:txBody>
      </p:sp>
      <p:sp>
        <p:nvSpPr>
          <p:cNvPr id="7" name="Text 5"/>
          <p:cNvSpPr/>
          <p:nvPr/>
        </p:nvSpPr>
        <p:spPr>
          <a:xfrm>
            <a:off x="1783080" y="1719072"/>
            <a:ext cx="3886200" cy="457200"/>
          </a:xfrm>
          <a:prstGeom prst="rect">
            <a:avLst/>
          </a:prstGeom>
          <a:noFill/>
          <a:ln/>
        </p:spPr>
        <p:txBody>
          <a:bodyPr wrap="square" rtlCol="0" anchor="ctr"/>
          <a:lstStyle/>
          <a:p>
            <a:pPr indent="0" marL="0">
              <a:buNone/>
            </a:pPr>
            <a:r>
              <a:rPr lang="en-US" sz="1900" b="1" dirty="0">
                <a:solidFill>
                  <a:srgbClr val="16302F"/>
                </a:solidFill>
                <a:latin typeface="Calibri" pitchFamily="34" charset="0"/>
                <a:ea typeface="Calibri" pitchFamily="34" charset="-122"/>
                <a:cs typeface="Calibri" pitchFamily="34" charset="-120"/>
              </a:rPr>
              <a:t>Java</a:t>
            </a:r>
            <a:endParaRPr lang="en-US" sz="1900" dirty="0"/>
          </a:p>
        </p:txBody>
      </p:sp>
      <p:sp>
        <p:nvSpPr>
          <p:cNvPr id="8" name="Text 6"/>
          <p:cNvSpPr/>
          <p:nvPr/>
        </p:nvSpPr>
        <p:spPr>
          <a:xfrm>
            <a:off x="1783080" y="2176272"/>
            <a:ext cx="3886200" cy="1280160"/>
          </a:xfrm>
          <a:prstGeom prst="rect">
            <a:avLst/>
          </a:prstGeom>
          <a:noFill/>
          <a:ln/>
        </p:spPr>
        <p:txBody>
          <a:bodyPr wrap="square" rtlCol="0" anchor="ctr"/>
          <a:lstStyle/>
          <a:p>
            <a:pPr indent="0" marL="0">
              <a:lnSpc>
                <a:spcPts val="1700"/>
              </a:lnSpc>
              <a:buNone/>
            </a:pPr>
            <a:r>
              <a:rPr lang="en-US" sz="1300" dirty="0">
                <a:solidFill>
                  <a:srgbClr val="5C7A78"/>
                </a:solidFill>
                <a:latin typeface="Calibri" pitchFamily="34" charset="0"/>
                <a:ea typeface="Calibri" pitchFamily="34" charset="-122"/>
                <a:cs typeface="Calibri" pitchFamily="34" charset="-120"/>
              </a:rPr>
              <a:t>Core programming language used to implement the search, indexing, and ranking algorithms.</a:t>
            </a:r>
            <a:endParaRPr lang="en-US" sz="1300" dirty="0"/>
          </a:p>
        </p:txBody>
      </p:sp>
      <p:sp>
        <p:nvSpPr>
          <p:cNvPr id="9" name="Shape 7"/>
          <p:cNvSpPr/>
          <p:nvPr/>
        </p:nvSpPr>
        <p:spPr>
          <a:xfrm>
            <a:off x="6263640" y="1463040"/>
            <a:ext cx="5257800" cy="2148840"/>
          </a:xfrm>
          <a:prstGeom prst="roundRect">
            <a:avLst>
              <a:gd name="adj" fmla="val 4255"/>
            </a:avLst>
          </a:prstGeom>
          <a:solidFill>
            <a:srgbClr val="F2FAF9"/>
          </a:solidFill>
          <a:ln w="12700">
            <a:solidFill>
              <a:srgbClr val="D8ECEA"/>
            </a:solidFill>
            <a:prstDash val="solid"/>
          </a:ln>
        </p:spPr>
      </p:sp>
      <p:sp>
        <p:nvSpPr>
          <p:cNvPr id="10" name="Shape 8"/>
          <p:cNvSpPr/>
          <p:nvPr/>
        </p:nvSpPr>
        <p:spPr>
          <a:xfrm>
            <a:off x="6537960" y="1737360"/>
            <a:ext cx="685800" cy="685800"/>
          </a:xfrm>
          <a:prstGeom prst="ellipse">
            <a:avLst/>
          </a:prstGeom>
          <a:solidFill>
            <a:srgbClr val="028090"/>
          </a:solidFill>
          <a:ln/>
        </p:spPr>
      </p:sp>
      <p:sp>
        <p:nvSpPr>
          <p:cNvPr id="11" name="Text 9"/>
          <p:cNvSpPr/>
          <p:nvPr/>
        </p:nvSpPr>
        <p:spPr>
          <a:xfrm>
            <a:off x="6537960" y="1737360"/>
            <a:ext cx="685800" cy="685800"/>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V</a:t>
            </a:r>
            <a:endParaRPr lang="en-US" sz="2600" dirty="0"/>
          </a:p>
        </p:txBody>
      </p:sp>
      <p:sp>
        <p:nvSpPr>
          <p:cNvPr id="12" name="Text 10"/>
          <p:cNvSpPr/>
          <p:nvPr/>
        </p:nvSpPr>
        <p:spPr>
          <a:xfrm>
            <a:off x="7406640" y="1719072"/>
            <a:ext cx="3886200" cy="457200"/>
          </a:xfrm>
          <a:prstGeom prst="rect">
            <a:avLst/>
          </a:prstGeom>
          <a:noFill/>
          <a:ln/>
        </p:spPr>
        <p:txBody>
          <a:bodyPr wrap="square" rtlCol="0" anchor="ctr"/>
          <a:lstStyle/>
          <a:p>
            <a:pPr indent="0" marL="0">
              <a:buNone/>
            </a:pPr>
            <a:r>
              <a:rPr lang="en-US" sz="1900" b="1" dirty="0">
                <a:solidFill>
                  <a:srgbClr val="16302F"/>
                </a:solidFill>
                <a:latin typeface="Calibri" pitchFamily="34" charset="0"/>
                <a:ea typeface="Calibri" pitchFamily="34" charset="-122"/>
                <a:cs typeface="Calibri" pitchFamily="34" charset="-120"/>
              </a:rPr>
              <a:t>VS Code</a:t>
            </a:r>
            <a:endParaRPr lang="en-US" sz="1900" dirty="0"/>
          </a:p>
        </p:txBody>
      </p:sp>
      <p:sp>
        <p:nvSpPr>
          <p:cNvPr id="13" name="Text 11"/>
          <p:cNvSpPr/>
          <p:nvPr/>
        </p:nvSpPr>
        <p:spPr>
          <a:xfrm>
            <a:off x="7406640" y="2176272"/>
            <a:ext cx="3886200" cy="1280160"/>
          </a:xfrm>
          <a:prstGeom prst="rect">
            <a:avLst/>
          </a:prstGeom>
          <a:noFill/>
          <a:ln/>
        </p:spPr>
        <p:txBody>
          <a:bodyPr wrap="square" rtlCol="0" anchor="ctr"/>
          <a:lstStyle/>
          <a:p>
            <a:pPr indent="0" marL="0">
              <a:lnSpc>
                <a:spcPts val="1700"/>
              </a:lnSpc>
              <a:buNone/>
            </a:pPr>
            <a:r>
              <a:rPr lang="en-US" sz="1300" dirty="0">
                <a:solidFill>
                  <a:srgbClr val="5C7A78"/>
                </a:solidFill>
                <a:latin typeface="Calibri" pitchFamily="34" charset="0"/>
                <a:ea typeface="Calibri" pitchFamily="34" charset="-122"/>
                <a:cs typeface="Calibri" pitchFamily="34" charset="-120"/>
              </a:rPr>
              <a:t>Primary code editor / IDE used for development, debugging, and running the application.</a:t>
            </a:r>
            <a:endParaRPr lang="en-US" sz="1300" dirty="0"/>
          </a:p>
        </p:txBody>
      </p:sp>
      <p:sp>
        <p:nvSpPr>
          <p:cNvPr id="14" name="Shape 12"/>
          <p:cNvSpPr/>
          <p:nvPr/>
        </p:nvSpPr>
        <p:spPr>
          <a:xfrm>
            <a:off x="640080" y="3886200"/>
            <a:ext cx="5257800" cy="2148840"/>
          </a:xfrm>
          <a:prstGeom prst="roundRect">
            <a:avLst>
              <a:gd name="adj" fmla="val 4255"/>
            </a:avLst>
          </a:prstGeom>
          <a:solidFill>
            <a:srgbClr val="F2FAF9"/>
          </a:solidFill>
          <a:ln w="12700">
            <a:solidFill>
              <a:srgbClr val="D8ECEA"/>
            </a:solidFill>
            <a:prstDash val="solid"/>
          </a:ln>
        </p:spPr>
      </p:sp>
      <p:sp>
        <p:nvSpPr>
          <p:cNvPr id="15" name="Shape 13"/>
          <p:cNvSpPr/>
          <p:nvPr/>
        </p:nvSpPr>
        <p:spPr>
          <a:xfrm>
            <a:off x="914400" y="4160520"/>
            <a:ext cx="685800" cy="685800"/>
          </a:xfrm>
          <a:prstGeom prst="ellipse">
            <a:avLst/>
          </a:prstGeom>
          <a:solidFill>
            <a:srgbClr val="028090"/>
          </a:solidFill>
          <a:ln/>
        </p:spPr>
      </p:sp>
      <p:sp>
        <p:nvSpPr>
          <p:cNvPr id="16" name="Text 14"/>
          <p:cNvSpPr/>
          <p:nvPr/>
        </p:nvSpPr>
        <p:spPr>
          <a:xfrm>
            <a:off x="914400" y="4160520"/>
            <a:ext cx="685800" cy="685800"/>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W</a:t>
            </a:r>
            <a:endParaRPr lang="en-US" sz="2600" dirty="0"/>
          </a:p>
        </p:txBody>
      </p:sp>
      <p:sp>
        <p:nvSpPr>
          <p:cNvPr id="17" name="Text 15"/>
          <p:cNvSpPr/>
          <p:nvPr/>
        </p:nvSpPr>
        <p:spPr>
          <a:xfrm>
            <a:off x="1783080" y="4142232"/>
            <a:ext cx="3886200" cy="457200"/>
          </a:xfrm>
          <a:prstGeom prst="rect">
            <a:avLst/>
          </a:prstGeom>
          <a:noFill/>
          <a:ln/>
        </p:spPr>
        <p:txBody>
          <a:bodyPr wrap="square" rtlCol="0" anchor="ctr"/>
          <a:lstStyle/>
          <a:p>
            <a:pPr indent="0" marL="0">
              <a:buNone/>
            </a:pPr>
            <a:r>
              <a:rPr lang="en-US" sz="1900" b="1" dirty="0">
                <a:solidFill>
                  <a:srgbClr val="16302F"/>
                </a:solidFill>
                <a:latin typeface="Calibri" pitchFamily="34" charset="0"/>
                <a:ea typeface="Calibri" pitchFamily="34" charset="-122"/>
                <a:cs typeface="Calibri" pitchFamily="34" charset="-120"/>
              </a:rPr>
              <a:t>Windows OS</a:t>
            </a:r>
            <a:endParaRPr lang="en-US" sz="1900" dirty="0"/>
          </a:p>
        </p:txBody>
      </p:sp>
      <p:sp>
        <p:nvSpPr>
          <p:cNvPr id="18" name="Text 16"/>
          <p:cNvSpPr/>
          <p:nvPr/>
        </p:nvSpPr>
        <p:spPr>
          <a:xfrm>
            <a:off x="1783080" y="4599432"/>
            <a:ext cx="3886200" cy="1280160"/>
          </a:xfrm>
          <a:prstGeom prst="rect">
            <a:avLst/>
          </a:prstGeom>
          <a:noFill/>
          <a:ln/>
        </p:spPr>
        <p:txBody>
          <a:bodyPr wrap="square" rtlCol="0" anchor="ctr"/>
          <a:lstStyle/>
          <a:p>
            <a:pPr indent="0" marL="0">
              <a:lnSpc>
                <a:spcPts val="1700"/>
              </a:lnSpc>
              <a:buNone/>
            </a:pPr>
            <a:r>
              <a:rPr lang="en-US" sz="1300" dirty="0">
                <a:solidFill>
                  <a:srgbClr val="5C7A78"/>
                </a:solidFill>
                <a:latin typeface="Calibri" pitchFamily="34" charset="0"/>
                <a:ea typeface="Calibri" pitchFamily="34" charset="-122"/>
                <a:cs typeface="Calibri" pitchFamily="34" charset="-120"/>
              </a:rPr>
              <a:t>Operating system used to develop, build, and run the project.</a:t>
            </a:r>
            <a:endParaRPr lang="en-US" sz="1300" dirty="0"/>
          </a:p>
        </p:txBody>
      </p:sp>
      <p:sp>
        <p:nvSpPr>
          <p:cNvPr id="19" name="Shape 17"/>
          <p:cNvSpPr/>
          <p:nvPr/>
        </p:nvSpPr>
        <p:spPr>
          <a:xfrm>
            <a:off x="6263640" y="3886200"/>
            <a:ext cx="5257800" cy="2148840"/>
          </a:xfrm>
          <a:prstGeom prst="roundRect">
            <a:avLst>
              <a:gd name="adj" fmla="val 4255"/>
            </a:avLst>
          </a:prstGeom>
          <a:solidFill>
            <a:srgbClr val="F2FAF9"/>
          </a:solidFill>
          <a:ln w="12700">
            <a:solidFill>
              <a:srgbClr val="D8ECEA"/>
            </a:solidFill>
            <a:prstDash val="solid"/>
          </a:ln>
        </p:spPr>
      </p:sp>
      <p:sp>
        <p:nvSpPr>
          <p:cNvPr id="20" name="Shape 18"/>
          <p:cNvSpPr/>
          <p:nvPr/>
        </p:nvSpPr>
        <p:spPr>
          <a:xfrm>
            <a:off x="6537960" y="4160520"/>
            <a:ext cx="685800" cy="685800"/>
          </a:xfrm>
          <a:prstGeom prst="ellipse">
            <a:avLst/>
          </a:prstGeom>
          <a:solidFill>
            <a:srgbClr val="028090"/>
          </a:solidFill>
          <a:ln/>
        </p:spPr>
      </p:sp>
      <p:sp>
        <p:nvSpPr>
          <p:cNvPr id="21" name="Text 19"/>
          <p:cNvSpPr/>
          <p:nvPr/>
        </p:nvSpPr>
        <p:spPr>
          <a:xfrm>
            <a:off x="6537960" y="4160520"/>
            <a:ext cx="685800" cy="685800"/>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G</a:t>
            </a:r>
            <a:endParaRPr lang="en-US" sz="2600" dirty="0"/>
          </a:p>
        </p:txBody>
      </p:sp>
      <p:sp>
        <p:nvSpPr>
          <p:cNvPr id="22" name="Text 20"/>
          <p:cNvSpPr/>
          <p:nvPr/>
        </p:nvSpPr>
        <p:spPr>
          <a:xfrm>
            <a:off x="7406640" y="4142232"/>
            <a:ext cx="3886200" cy="457200"/>
          </a:xfrm>
          <a:prstGeom prst="rect">
            <a:avLst/>
          </a:prstGeom>
          <a:noFill/>
          <a:ln/>
        </p:spPr>
        <p:txBody>
          <a:bodyPr wrap="square" rtlCol="0" anchor="ctr"/>
          <a:lstStyle/>
          <a:p>
            <a:pPr indent="0" marL="0">
              <a:buNone/>
            </a:pPr>
            <a:r>
              <a:rPr lang="en-US" sz="1900" b="1" dirty="0">
                <a:solidFill>
                  <a:srgbClr val="16302F"/>
                </a:solidFill>
                <a:latin typeface="Calibri" pitchFamily="34" charset="0"/>
                <a:ea typeface="Calibri" pitchFamily="34" charset="-122"/>
                <a:cs typeface="Calibri" pitchFamily="34" charset="-120"/>
              </a:rPr>
              <a:t>GitHub</a:t>
            </a:r>
            <a:endParaRPr lang="en-US" sz="1900" dirty="0"/>
          </a:p>
        </p:txBody>
      </p:sp>
      <p:sp>
        <p:nvSpPr>
          <p:cNvPr id="23" name="Text 21"/>
          <p:cNvSpPr/>
          <p:nvPr/>
        </p:nvSpPr>
        <p:spPr>
          <a:xfrm>
            <a:off x="7406640" y="4599432"/>
            <a:ext cx="3886200" cy="1280160"/>
          </a:xfrm>
          <a:prstGeom prst="rect">
            <a:avLst/>
          </a:prstGeom>
          <a:noFill/>
          <a:ln/>
        </p:spPr>
        <p:txBody>
          <a:bodyPr wrap="square" rtlCol="0" anchor="ctr"/>
          <a:lstStyle/>
          <a:p>
            <a:pPr indent="0" marL="0">
              <a:lnSpc>
                <a:spcPts val="1700"/>
              </a:lnSpc>
              <a:buNone/>
            </a:pPr>
            <a:r>
              <a:rPr lang="en-US" sz="1300" dirty="0">
                <a:solidFill>
                  <a:srgbClr val="5C7A78"/>
                </a:solidFill>
                <a:latin typeface="Calibri" pitchFamily="34" charset="0"/>
                <a:ea typeface="Calibri" pitchFamily="34" charset="-122"/>
                <a:cs typeface="Calibri" pitchFamily="34" charset="-120"/>
              </a:rPr>
              <a:t>Version control and repository hosting for source code, collaboration, and change tracking.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640080"/>
          </a:xfrm>
          <a:prstGeom prst="rect">
            <a:avLst/>
          </a:prstGeom>
          <a:noFill/>
          <a:ln/>
        </p:spPr>
        <p:txBody>
          <a:bodyPr wrap="square" rtlCol="0" anchor="ctr"/>
          <a:lstStyle/>
          <a:p>
            <a:pPr indent="0" marL="0">
              <a:buNone/>
            </a:pPr>
            <a:r>
              <a:rPr lang="en-US" sz="3400" b="1" dirty="0">
                <a:solidFill>
                  <a:srgbClr val="16302F"/>
                </a:solidFill>
                <a:latin typeface="Cambria" pitchFamily="34" charset="0"/>
                <a:ea typeface="Cambria" pitchFamily="34" charset="-122"/>
                <a:cs typeface="Cambria" pitchFamily="34" charset="-120"/>
              </a:rPr>
              <a:t>Hardware Requirements</a:t>
            </a:r>
            <a:endParaRPr lang="en-US" sz="3400" dirty="0"/>
          </a:p>
        </p:txBody>
      </p:sp>
      <p:sp>
        <p:nvSpPr>
          <p:cNvPr id="3" name="Shape 1"/>
          <p:cNvSpPr/>
          <p:nvPr/>
        </p:nvSpPr>
        <p:spPr>
          <a:xfrm>
            <a:off x="640080" y="1737360"/>
            <a:ext cx="6492240" cy="804672"/>
          </a:xfrm>
          <a:prstGeom prst="roundRect">
            <a:avLst>
              <a:gd name="adj" fmla="val 9091"/>
            </a:avLst>
          </a:prstGeom>
          <a:solidFill>
            <a:srgbClr val="F2FAF9"/>
          </a:solidFill>
          <a:ln w="12700">
            <a:solidFill>
              <a:srgbClr val="E1F0EE"/>
            </a:solidFill>
            <a:prstDash val="solid"/>
          </a:ln>
        </p:spPr>
      </p:sp>
      <p:sp>
        <p:nvSpPr>
          <p:cNvPr id="4" name="Shape 2"/>
          <p:cNvSpPr/>
          <p:nvPr/>
        </p:nvSpPr>
        <p:spPr>
          <a:xfrm>
            <a:off x="804672" y="1865376"/>
            <a:ext cx="548640" cy="548640"/>
          </a:xfrm>
          <a:prstGeom prst="ellipse">
            <a:avLst/>
          </a:prstGeom>
          <a:solidFill>
            <a:srgbClr val="00A896"/>
          </a:solidFill>
          <a:ln/>
        </p:spPr>
      </p:sp>
      <p:sp>
        <p:nvSpPr>
          <p:cNvPr id="5" name="Text 3"/>
          <p:cNvSpPr/>
          <p:nvPr/>
        </p:nvSpPr>
        <p:spPr>
          <a:xfrm>
            <a:off x="804672" y="1865376"/>
            <a:ext cx="54864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554480" y="1792224"/>
            <a:ext cx="1828800" cy="320040"/>
          </a:xfrm>
          <a:prstGeom prst="rect">
            <a:avLst/>
          </a:prstGeom>
          <a:noFill/>
          <a:ln/>
        </p:spPr>
        <p:txBody>
          <a:bodyPr wrap="square" rtlCol="0" anchor="ctr"/>
          <a:lstStyle/>
          <a:p>
            <a:pPr indent="0" marL="0">
              <a:buNone/>
            </a:pPr>
            <a:r>
              <a:rPr lang="en-US" sz="1450" b="1" dirty="0">
                <a:solidFill>
                  <a:srgbClr val="16302F"/>
                </a:solidFill>
                <a:latin typeface="Calibri" pitchFamily="34" charset="0"/>
                <a:ea typeface="Calibri" pitchFamily="34" charset="-122"/>
                <a:cs typeface="Calibri" pitchFamily="34" charset="-120"/>
              </a:rPr>
              <a:t>Processor</a:t>
            </a:r>
            <a:endParaRPr lang="en-US" sz="1450" dirty="0"/>
          </a:p>
        </p:txBody>
      </p:sp>
      <p:sp>
        <p:nvSpPr>
          <p:cNvPr id="7" name="Text 5"/>
          <p:cNvSpPr/>
          <p:nvPr/>
        </p:nvSpPr>
        <p:spPr>
          <a:xfrm>
            <a:off x="1554480" y="2121408"/>
            <a:ext cx="5394960" cy="384048"/>
          </a:xfrm>
          <a:prstGeom prst="rect">
            <a:avLst/>
          </a:prstGeom>
          <a:noFill/>
          <a:ln/>
        </p:spPr>
        <p:txBody>
          <a:bodyPr wrap="square" rtlCol="0" anchor="ctr"/>
          <a:lstStyle/>
          <a:p>
            <a:pPr indent="0" marL="0">
              <a:buNone/>
            </a:pPr>
            <a:r>
              <a:rPr lang="en-US" sz="1200" dirty="0">
                <a:solidFill>
                  <a:srgbClr val="5C7A78"/>
                </a:solidFill>
                <a:latin typeface="Calibri" pitchFamily="34" charset="0"/>
                <a:ea typeface="Calibri" pitchFamily="34" charset="-122"/>
                <a:cs typeface="Calibri" pitchFamily="34" charset="-120"/>
              </a:rPr>
              <a:t>Intel Core i3 (or equivalent) and above</a:t>
            </a:r>
            <a:endParaRPr lang="en-US" sz="1200" dirty="0"/>
          </a:p>
        </p:txBody>
      </p:sp>
      <p:sp>
        <p:nvSpPr>
          <p:cNvPr id="8" name="Shape 6"/>
          <p:cNvSpPr/>
          <p:nvPr/>
        </p:nvSpPr>
        <p:spPr>
          <a:xfrm>
            <a:off x="640080" y="2788920"/>
            <a:ext cx="6492240" cy="804672"/>
          </a:xfrm>
          <a:prstGeom prst="roundRect">
            <a:avLst>
              <a:gd name="adj" fmla="val 9091"/>
            </a:avLst>
          </a:prstGeom>
          <a:solidFill>
            <a:srgbClr val="FFFFFF"/>
          </a:solidFill>
          <a:ln w="12700">
            <a:solidFill>
              <a:srgbClr val="E1F0EE"/>
            </a:solidFill>
            <a:prstDash val="solid"/>
          </a:ln>
        </p:spPr>
      </p:sp>
      <p:sp>
        <p:nvSpPr>
          <p:cNvPr id="9" name="Shape 7"/>
          <p:cNvSpPr/>
          <p:nvPr/>
        </p:nvSpPr>
        <p:spPr>
          <a:xfrm>
            <a:off x="804672" y="2916936"/>
            <a:ext cx="548640" cy="548640"/>
          </a:xfrm>
          <a:prstGeom prst="ellipse">
            <a:avLst/>
          </a:prstGeom>
          <a:solidFill>
            <a:srgbClr val="00A896"/>
          </a:solidFill>
          <a:ln/>
        </p:spPr>
      </p:sp>
      <p:sp>
        <p:nvSpPr>
          <p:cNvPr id="10" name="Text 8"/>
          <p:cNvSpPr/>
          <p:nvPr/>
        </p:nvSpPr>
        <p:spPr>
          <a:xfrm>
            <a:off x="804672" y="2916936"/>
            <a:ext cx="54864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p:nvPr/>
        </p:nvSpPr>
        <p:spPr>
          <a:xfrm>
            <a:off x="1554480" y="2843784"/>
            <a:ext cx="1828800" cy="320040"/>
          </a:xfrm>
          <a:prstGeom prst="rect">
            <a:avLst/>
          </a:prstGeom>
          <a:noFill/>
          <a:ln/>
        </p:spPr>
        <p:txBody>
          <a:bodyPr wrap="square" rtlCol="0" anchor="ctr"/>
          <a:lstStyle/>
          <a:p>
            <a:pPr indent="0" marL="0">
              <a:buNone/>
            </a:pPr>
            <a:r>
              <a:rPr lang="en-US" sz="1450" b="1" dirty="0">
                <a:solidFill>
                  <a:srgbClr val="16302F"/>
                </a:solidFill>
                <a:latin typeface="Calibri" pitchFamily="34" charset="0"/>
                <a:ea typeface="Calibri" pitchFamily="34" charset="-122"/>
                <a:cs typeface="Calibri" pitchFamily="34" charset="-120"/>
              </a:rPr>
              <a:t>RAM</a:t>
            </a:r>
            <a:endParaRPr lang="en-US" sz="1450" dirty="0"/>
          </a:p>
        </p:txBody>
      </p:sp>
      <p:sp>
        <p:nvSpPr>
          <p:cNvPr id="12" name="Text 10"/>
          <p:cNvSpPr/>
          <p:nvPr/>
        </p:nvSpPr>
        <p:spPr>
          <a:xfrm>
            <a:off x="1554480" y="3172968"/>
            <a:ext cx="5394960" cy="384048"/>
          </a:xfrm>
          <a:prstGeom prst="rect">
            <a:avLst/>
          </a:prstGeom>
          <a:noFill/>
          <a:ln/>
        </p:spPr>
        <p:txBody>
          <a:bodyPr wrap="square" rtlCol="0" anchor="ctr"/>
          <a:lstStyle/>
          <a:p>
            <a:pPr indent="0" marL="0">
              <a:buNone/>
            </a:pPr>
            <a:r>
              <a:rPr lang="en-US" sz="1200" dirty="0">
                <a:solidFill>
                  <a:srgbClr val="5C7A78"/>
                </a:solidFill>
                <a:latin typeface="Calibri" pitchFamily="34" charset="0"/>
                <a:ea typeface="Calibri" pitchFamily="34" charset="-122"/>
                <a:cs typeface="Calibri" pitchFamily="34" charset="-120"/>
              </a:rPr>
              <a:t>4 GB minimum, 8 GB recommended</a:t>
            </a:r>
            <a:endParaRPr lang="en-US" sz="1200" dirty="0"/>
          </a:p>
        </p:txBody>
      </p:sp>
      <p:sp>
        <p:nvSpPr>
          <p:cNvPr id="13" name="Shape 11"/>
          <p:cNvSpPr/>
          <p:nvPr/>
        </p:nvSpPr>
        <p:spPr>
          <a:xfrm>
            <a:off x="640080" y="3840480"/>
            <a:ext cx="6492240" cy="804672"/>
          </a:xfrm>
          <a:prstGeom prst="roundRect">
            <a:avLst>
              <a:gd name="adj" fmla="val 9091"/>
            </a:avLst>
          </a:prstGeom>
          <a:solidFill>
            <a:srgbClr val="F2FAF9"/>
          </a:solidFill>
          <a:ln w="12700">
            <a:solidFill>
              <a:srgbClr val="E1F0EE"/>
            </a:solidFill>
            <a:prstDash val="solid"/>
          </a:ln>
        </p:spPr>
      </p:sp>
      <p:sp>
        <p:nvSpPr>
          <p:cNvPr id="14" name="Shape 12"/>
          <p:cNvSpPr/>
          <p:nvPr/>
        </p:nvSpPr>
        <p:spPr>
          <a:xfrm>
            <a:off x="804672" y="3968496"/>
            <a:ext cx="548640" cy="548640"/>
          </a:xfrm>
          <a:prstGeom prst="ellipse">
            <a:avLst/>
          </a:prstGeom>
          <a:solidFill>
            <a:srgbClr val="00A896"/>
          </a:solidFill>
          <a:ln/>
        </p:spPr>
      </p:sp>
      <p:sp>
        <p:nvSpPr>
          <p:cNvPr id="15" name="Text 13"/>
          <p:cNvSpPr/>
          <p:nvPr/>
        </p:nvSpPr>
        <p:spPr>
          <a:xfrm>
            <a:off x="804672" y="3968496"/>
            <a:ext cx="54864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Text 14"/>
          <p:cNvSpPr/>
          <p:nvPr/>
        </p:nvSpPr>
        <p:spPr>
          <a:xfrm>
            <a:off x="1554480" y="3895344"/>
            <a:ext cx="1828800" cy="320040"/>
          </a:xfrm>
          <a:prstGeom prst="rect">
            <a:avLst/>
          </a:prstGeom>
          <a:noFill/>
          <a:ln/>
        </p:spPr>
        <p:txBody>
          <a:bodyPr wrap="square" rtlCol="0" anchor="ctr"/>
          <a:lstStyle/>
          <a:p>
            <a:pPr indent="0" marL="0">
              <a:buNone/>
            </a:pPr>
            <a:r>
              <a:rPr lang="en-US" sz="1450" b="1" dirty="0">
                <a:solidFill>
                  <a:srgbClr val="16302F"/>
                </a:solidFill>
                <a:latin typeface="Calibri" pitchFamily="34" charset="0"/>
                <a:ea typeface="Calibri" pitchFamily="34" charset="-122"/>
                <a:cs typeface="Calibri" pitchFamily="34" charset="-120"/>
              </a:rPr>
              <a:t>Storage</a:t>
            </a:r>
            <a:endParaRPr lang="en-US" sz="1450" dirty="0"/>
          </a:p>
        </p:txBody>
      </p:sp>
      <p:sp>
        <p:nvSpPr>
          <p:cNvPr id="17" name="Text 15"/>
          <p:cNvSpPr/>
          <p:nvPr/>
        </p:nvSpPr>
        <p:spPr>
          <a:xfrm>
            <a:off x="1554480" y="4224528"/>
            <a:ext cx="5394960" cy="384048"/>
          </a:xfrm>
          <a:prstGeom prst="rect">
            <a:avLst/>
          </a:prstGeom>
          <a:noFill/>
          <a:ln/>
        </p:spPr>
        <p:txBody>
          <a:bodyPr wrap="square" rtlCol="0" anchor="ctr"/>
          <a:lstStyle/>
          <a:p>
            <a:pPr indent="0" marL="0">
              <a:buNone/>
            </a:pPr>
            <a:r>
              <a:rPr lang="en-US" sz="1200" dirty="0">
                <a:solidFill>
                  <a:srgbClr val="5C7A78"/>
                </a:solidFill>
                <a:latin typeface="Calibri" pitchFamily="34" charset="0"/>
                <a:ea typeface="Calibri" pitchFamily="34" charset="-122"/>
                <a:cs typeface="Calibri" pitchFamily="34" charset="-120"/>
              </a:rPr>
              <a:t>At least 500 MB free disk space for documents, index files, and project setup</a:t>
            </a:r>
            <a:endParaRPr lang="en-US" sz="1200" dirty="0"/>
          </a:p>
        </p:txBody>
      </p:sp>
      <p:sp>
        <p:nvSpPr>
          <p:cNvPr id="18" name="Shape 16"/>
          <p:cNvSpPr/>
          <p:nvPr/>
        </p:nvSpPr>
        <p:spPr>
          <a:xfrm>
            <a:off x="640080" y="4892040"/>
            <a:ext cx="6492240" cy="804672"/>
          </a:xfrm>
          <a:prstGeom prst="roundRect">
            <a:avLst>
              <a:gd name="adj" fmla="val 9091"/>
            </a:avLst>
          </a:prstGeom>
          <a:solidFill>
            <a:srgbClr val="FFFFFF"/>
          </a:solidFill>
          <a:ln w="12700">
            <a:solidFill>
              <a:srgbClr val="E1F0EE"/>
            </a:solidFill>
            <a:prstDash val="solid"/>
          </a:ln>
        </p:spPr>
      </p:sp>
      <p:sp>
        <p:nvSpPr>
          <p:cNvPr id="19" name="Shape 17"/>
          <p:cNvSpPr/>
          <p:nvPr/>
        </p:nvSpPr>
        <p:spPr>
          <a:xfrm>
            <a:off x="804672" y="5020056"/>
            <a:ext cx="548640" cy="548640"/>
          </a:xfrm>
          <a:prstGeom prst="ellipse">
            <a:avLst/>
          </a:prstGeom>
          <a:solidFill>
            <a:srgbClr val="00A896"/>
          </a:solidFill>
          <a:ln/>
        </p:spPr>
      </p:sp>
      <p:sp>
        <p:nvSpPr>
          <p:cNvPr id="20" name="Text 18"/>
          <p:cNvSpPr/>
          <p:nvPr/>
        </p:nvSpPr>
        <p:spPr>
          <a:xfrm>
            <a:off x="804672" y="5020056"/>
            <a:ext cx="54864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1" name="Text 19"/>
          <p:cNvSpPr/>
          <p:nvPr/>
        </p:nvSpPr>
        <p:spPr>
          <a:xfrm>
            <a:off x="1554480" y="4946904"/>
            <a:ext cx="1828800" cy="320040"/>
          </a:xfrm>
          <a:prstGeom prst="rect">
            <a:avLst/>
          </a:prstGeom>
          <a:noFill/>
          <a:ln/>
        </p:spPr>
        <p:txBody>
          <a:bodyPr wrap="square" rtlCol="0" anchor="ctr"/>
          <a:lstStyle/>
          <a:p>
            <a:pPr indent="0" marL="0">
              <a:buNone/>
            </a:pPr>
            <a:r>
              <a:rPr lang="en-US" sz="1450" b="1" dirty="0">
                <a:solidFill>
                  <a:srgbClr val="16302F"/>
                </a:solidFill>
                <a:latin typeface="Calibri" pitchFamily="34" charset="0"/>
                <a:ea typeface="Calibri" pitchFamily="34" charset="-122"/>
                <a:cs typeface="Calibri" pitchFamily="34" charset="-120"/>
              </a:rPr>
              <a:t>Display</a:t>
            </a:r>
            <a:endParaRPr lang="en-US" sz="1450" dirty="0"/>
          </a:p>
        </p:txBody>
      </p:sp>
      <p:sp>
        <p:nvSpPr>
          <p:cNvPr id="22" name="Text 20"/>
          <p:cNvSpPr/>
          <p:nvPr/>
        </p:nvSpPr>
        <p:spPr>
          <a:xfrm>
            <a:off x="1554480" y="5276088"/>
            <a:ext cx="5394960" cy="384048"/>
          </a:xfrm>
          <a:prstGeom prst="rect">
            <a:avLst/>
          </a:prstGeom>
          <a:noFill/>
          <a:ln/>
        </p:spPr>
        <p:txBody>
          <a:bodyPr wrap="square" rtlCol="0" anchor="ctr"/>
          <a:lstStyle/>
          <a:p>
            <a:pPr indent="0" marL="0">
              <a:buNone/>
            </a:pPr>
            <a:r>
              <a:rPr lang="en-US" sz="1200" dirty="0">
                <a:solidFill>
                  <a:srgbClr val="5C7A78"/>
                </a:solidFill>
                <a:latin typeface="Calibri" pitchFamily="34" charset="0"/>
                <a:ea typeface="Calibri" pitchFamily="34" charset="-122"/>
                <a:cs typeface="Calibri" pitchFamily="34" charset="-120"/>
              </a:rPr>
              <a:t>Standard monitor with minimum 1366 x 768 resolution</a:t>
            </a:r>
            <a:endParaRPr lang="en-US" sz="1200" dirty="0"/>
          </a:p>
        </p:txBody>
      </p:sp>
      <p:sp>
        <p:nvSpPr>
          <p:cNvPr id="23" name="Shape 21"/>
          <p:cNvSpPr/>
          <p:nvPr/>
        </p:nvSpPr>
        <p:spPr>
          <a:xfrm>
            <a:off x="7452360" y="1737360"/>
            <a:ext cx="4069080" cy="4206240"/>
          </a:xfrm>
          <a:prstGeom prst="roundRect">
            <a:avLst>
              <a:gd name="adj" fmla="val 2697"/>
            </a:avLst>
          </a:prstGeom>
          <a:solidFill>
            <a:srgbClr val="0B2E33"/>
          </a:solidFill>
          <a:ln/>
        </p:spPr>
      </p:sp>
      <p:sp>
        <p:nvSpPr>
          <p:cNvPr id="24" name="Text 22"/>
          <p:cNvSpPr/>
          <p:nvPr/>
        </p:nvSpPr>
        <p:spPr>
          <a:xfrm>
            <a:off x="7772400" y="2011680"/>
            <a:ext cx="3474720" cy="685800"/>
          </a:xfrm>
          <a:prstGeom prst="rect">
            <a:avLst/>
          </a:prstGeom>
          <a:noFill/>
          <a:ln/>
        </p:spPr>
        <p:txBody>
          <a:bodyPr wrap="square" rtlCol="0" anchor="ctr"/>
          <a:lstStyle/>
          <a:p>
            <a:pPr indent="0" marL="0">
              <a:lnSpc>
                <a:spcPts val="1900"/>
              </a:lnSpc>
              <a:buNone/>
            </a:pPr>
            <a:r>
              <a:rPr lang="en-US" sz="1600" b="1" dirty="0">
                <a:solidFill>
                  <a:srgbClr val="02C39A"/>
                </a:solidFill>
                <a:latin typeface="Cambria" pitchFamily="34" charset="0"/>
                <a:ea typeface="Cambria" pitchFamily="34" charset="-122"/>
                <a:cs typeface="Cambria" pitchFamily="34" charset="-120"/>
              </a:rPr>
              <a:t>Development Environment</a:t>
            </a:r>
            <a:endParaRPr lang="en-US" sz="1600" dirty="0"/>
          </a:p>
        </p:txBody>
      </p:sp>
      <p:sp>
        <p:nvSpPr>
          <p:cNvPr id="25" name="Shape 23"/>
          <p:cNvSpPr/>
          <p:nvPr/>
        </p:nvSpPr>
        <p:spPr>
          <a:xfrm>
            <a:off x="7772400" y="2944368"/>
            <a:ext cx="109728" cy="109728"/>
          </a:xfrm>
          <a:prstGeom prst="ellipse">
            <a:avLst/>
          </a:prstGeom>
          <a:solidFill>
            <a:srgbClr val="00A896"/>
          </a:solidFill>
          <a:ln/>
        </p:spPr>
      </p:sp>
      <p:sp>
        <p:nvSpPr>
          <p:cNvPr id="26" name="Text 24"/>
          <p:cNvSpPr/>
          <p:nvPr/>
        </p:nvSpPr>
        <p:spPr>
          <a:xfrm>
            <a:off x="8046720" y="2788920"/>
            <a:ext cx="3291840" cy="502920"/>
          </a:xfrm>
          <a:prstGeom prst="rect">
            <a:avLst/>
          </a:prstGeom>
          <a:noFill/>
          <a:ln/>
        </p:spPr>
        <p:txBody>
          <a:bodyPr wrap="square" rtlCol="0" anchor="ctr"/>
          <a:lstStyle/>
          <a:p>
            <a:pPr indent="0" marL="0">
              <a:buNone/>
            </a:pPr>
            <a:r>
              <a:rPr lang="en-US" sz="1300" dirty="0">
                <a:solidFill>
                  <a:srgbClr val="F0F7F6"/>
                </a:solidFill>
                <a:latin typeface="Calibri" pitchFamily="34" charset="0"/>
                <a:ea typeface="Calibri" pitchFamily="34" charset="-122"/>
                <a:cs typeface="Calibri" pitchFamily="34" charset="-120"/>
              </a:rPr>
              <a:t>Java Development Kit (JDK)</a:t>
            </a:r>
            <a:endParaRPr lang="en-US" sz="1300" dirty="0"/>
          </a:p>
        </p:txBody>
      </p:sp>
      <p:sp>
        <p:nvSpPr>
          <p:cNvPr id="27" name="Shape 25"/>
          <p:cNvSpPr/>
          <p:nvPr/>
        </p:nvSpPr>
        <p:spPr>
          <a:xfrm>
            <a:off x="7772400" y="3602736"/>
            <a:ext cx="109728" cy="109728"/>
          </a:xfrm>
          <a:prstGeom prst="ellipse">
            <a:avLst/>
          </a:prstGeom>
          <a:solidFill>
            <a:srgbClr val="00A896"/>
          </a:solidFill>
          <a:ln/>
        </p:spPr>
      </p:sp>
      <p:sp>
        <p:nvSpPr>
          <p:cNvPr id="28" name="Text 26"/>
          <p:cNvSpPr/>
          <p:nvPr/>
        </p:nvSpPr>
        <p:spPr>
          <a:xfrm>
            <a:off x="8046720" y="3447288"/>
            <a:ext cx="3291840" cy="502920"/>
          </a:xfrm>
          <a:prstGeom prst="rect">
            <a:avLst/>
          </a:prstGeom>
          <a:noFill/>
          <a:ln/>
        </p:spPr>
        <p:txBody>
          <a:bodyPr wrap="square" rtlCol="0" anchor="ctr"/>
          <a:lstStyle/>
          <a:p>
            <a:pPr indent="0" marL="0">
              <a:buNone/>
            </a:pPr>
            <a:r>
              <a:rPr lang="en-US" sz="1300" dirty="0">
                <a:solidFill>
                  <a:srgbClr val="F0F7F6"/>
                </a:solidFill>
                <a:latin typeface="Calibri" pitchFamily="34" charset="0"/>
                <a:ea typeface="Calibri" pitchFamily="34" charset="-122"/>
                <a:cs typeface="Calibri" pitchFamily="34" charset="-120"/>
              </a:rPr>
              <a:t>Visual Studio Code + Java extensions</a:t>
            </a:r>
            <a:endParaRPr lang="en-US" sz="1300" dirty="0"/>
          </a:p>
        </p:txBody>
      </p:sp>
      <p:sp>
        <p:nvSpPr>
          <p:cNvPr id="29" name="Shape 27"/>
          <p:cNvSpPr/>
          <p:nvPr/>
        </p:nvSpPr>
        <p:spPr>
          <a:xfrm>
            <a:off x="7772400" y="4261104"/>
            <a:ext cx="109728" cy="109728"/>
          </a:xfrm>
          <a:prstGeom prst="ellipse">
            <a:avLst/>
          </a:prstGeom>
          <a:solidFill>
            <a:srgbClr val="00A896"/>
          </a:solidFill>
          <a:ln/>
        </p:spPr>
      </p:sp>
      <p:sp>
        <p:nvSpPr>
          <p:cNvPr id="30" name="Text 28"/>
          <p:cNvSpPr/>
          <p:nvPr/>
        </p:nvSpPr>
        <p:spPr>
          <a:xfrm>
            <a:off x="8046720" y="4105656"/>
            <a:ext cx="3291840" cy="502920"/>
          </a:xfrm>
          <a:prstGeom prst="rect">
            <a:avLst/>
          </a:prstGeom>
          <a:noFill/>
          <a:ln/>
        </p:spPr>
        <p:txBody>
          <a:bodyPr wrap="square" rtlCol="0" anchor="ctr"/>
          <a:lstStyle/>
          <a:p>
            <a:pPr indent="0" marL="0">
              <a:buNone/>
            </a:pPr>
            <a:r>
              <a:rPr lang="en-US" sz="1300" dirty="0">
                <a:solidFill>
                  <a:srgbClr val="F0F7F6"/>
                </a:solidFill>
                <a:latin typeface="Calibri" pitchFamily="34" charset="0"/>
                <a:ea typeface="Calibri" pitchFamily="34" charset="-122"/>
                <a:cs typeface="Calibri" pitchFamily="34" charset="-120"/>
              </a:rPr>
              <a:t>Windows 10 / 11</a:t>
            </a:r>
            <a:endParaRPr lang="en-US" sz="1300" dirty="0"/>
          </a:p>
        </p:txBody>
      </p:sp>
      <p:sp>
        <p:nvSpPr>
          <p:cNvPr id="31" name="Shape 29"/>
          <p:cNvSpPr/>
          <p:nvPr/>
        </p:nvSpPr>
        <p:spPr>
          <a:xfrm>
            <a:off x="7772400" y="4919472"/>
            <a:ext cx="109728" cy="109728"/>
          </a:xfrm>
          <a:prstGeom prst="ellipse">
            <a:avLst/>
          </a:prstGeom>
          <a:solidFill>
            <a:srgbClr val="00A896"/>
          </a:solidFill>
          <a:ln/>
        </p:spPr>
      </p:sp>
      <p:sp>
        <p:nvSpPr>
          <p:cNvPr id="32" name="Text 30"/>
          <p:cNvSpPr/>
          <p:nvPr/>
        </p:nvSpPr>
        <p:spPr>
          <a:xfrm>
            <a:off x="8046720" y="4764024"/>
            <a:ext cx="3291840" cy="502920"/>
          </a:xfrm>
          <a:prstGeom prst="rect">
            <a:avLst/>
          </a:prstGeom>
          <a:noFill/>
          <a:ln/>
        </p:spPr>
        <p:txBody>
          <a:bodyPr wrap="square" rtlCol="0" anchor="ctr"/>
          <a:lstStyle/>
          <a:p>
            <a:pPr indent="0" marL="0">
              <a:buNone/>
            </a:pPr>
            <a:r>
              <a:rPr lang="en-US" sz="1300" dirty="0">
                <a:solidFill>
                  <a:srgbClr val="F0F7F6"/>
                </a:solidFill>
                <a:latin typeface="Calibri" pitchFamily="34" charset="0"/>
                <a:ea typeface="Calibri" pitchFamily="34" charset="-122"/>
                <a:cs typeface="Calibri" pitchFamily="34" charset="-120"/>
              </a:rPr>
              <a:t>Git &amp; GitHub account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640080"/>
          </a:xfrm>
          <a:prstGeom prst="rect">
            <a:avLst/>
          </a:prstGeom>
          <a:noFill/>
          <a:ln/>
        </p:spPr>
        <p:txBody>
          <a:bodyPr wrap="square" rtlCol="0" anchor="ctr"/>
          <a:lstStyle/>
          <a:p>
            <a:pPr indent="0" marL="0">
              <a:buNone/>
            </a:pPr>
            <a:r>
              <a:rPr lang="en-US" sz="3400" b="1" dirty="0">
                <a:solidFill>
                  <a:srgbClr val="16302F"/>
                </a:solidFill>
                <a:latin typeface="Cambria" pitchFamily="34" charset="0"/>
                <a:ea typeface="Cambria" pitchFamily="34" charset="-122"/>
                <a:cs typeface="Cambria" pitchFamily="34" charset="-120"/>
              </a:rPr>
              <a:t>Literature Survey</a:t>
            </a:r>
            <a:endParaRPr lang="en-US" sz="3400" dirty="0"/>
          </a:p>
        </p:txBody>
      </p:sp>
      <p:sp>
        <p:nvSpPr>
          <p:cNvPr id="3" name="Shape 1"/>
          <p:cNvSpPr/>
          <p:nvPr/>
        </p:nvSpPr>
        <p:spPr>
          <a:xfrm>
            <a:off x="9692640" y="-1188720"/>
            <a:ext cx="3291840" cy="3291840"/>
          </a:xfrm>
          <a:prstGeom prst="ellipse">
            <a:avLst/>
          </a:prstGeom>
          <a:solidFill>
            <a:srgbClr val="028090">
              <a:alpha val="12000"/>
            </a:srgbClr>
          </a:solidFill>
          <a:ln/>
        </p:spPr>
      </p:sp>
      <p:sp>
        <p:nvSpPr>
          <p:cNvPr id="4" name="Shape 2"/>
          <p:cNvSpPr/>
          <p:nvPr/>
        </p:nvSpPr>
        <p:spPr>
          <a:xfrm>
            <a:off x="640080" y="1463040"/>
            <a:ext cx="5257800" cy="2148840"/>
          </a:xfrm>
          <a:prstGeom prst="roundRect">
            <a:avLst>
              <a:gd name="adj" fmla="val 4255"/>
            </a:avLst>
          </a:prstGeom>
          <a:solidFill>
            <a:srgbClr val="F2FAF9"/>
          </a:solidFill>
          <a:ln w="12700">
            <a:solidFill>
              <a:srgbClr val="D8ECEA"/>
            </a:solidFill>
            <a:prstDash val="solid"/>
          </a:ln>
        </p:spPr>
      </p:sp>
      <p:sp>
        <p:nvSpPr>
          <p:cNvPr id="5" name="Shape 3"/>
          <p:cNvSpPr/>
          <p:nvPr/>
        </p:nvSpPr>
        <p:spPr>
          <a:xfrm>
            <a:off x="914400" y="1737360"/>
            <a:ext cx="685800" cy="685800"/>
          </a:xfrm>
          <a:prstGeom prst="ellipse">
            <a:avLst/>
          </a:prstGeom>
          <a:solidFill>
            <a:srgbClr val="028090"/>
          </a:solidFill>
          <a:ln/>
        </p:spPr>
      </p:sp>
      <p:sp>
        <p:nvSpPr>
          <p:cNvPr id="6" name="Text 4"/>
          <p:cNvSpPr/>
          <p:nvPr/>
        </p:nvSpPr>
        <p:spPr>
          <a:xfrm>
            <a:off x="914400" y="1737360"/>
            <a:ext cx="685800" cy="685800"/>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G</a:t>
            </a:r>
            <a:endParaRPr lang="en-US" sz="2600" dirty="0"/>
          </a:p>
        </p:txBody>
      </p:sp>
      <p:sp>
        <p:nvSpPr>
          <p:cNvPr id="7" name="Text 5"/>
          <p:cNvSpPr/>
          <p:nvPr/>
        </p:nvSpPr>
        <p:spPr>
          <a:xfrm>
            <a:off x="1783080" y="1719072"/>
            <a:ext cx="3886200" cy="457200"/>
          </a:xfrm>
          <a:prstGeom prst="rect">
            <a:avLst/>
          </a:prstGeom>
          <a:noFill/>
          <a:ln/>
        </p:spPr>
        <p:txBody>
          <a:bodyPr wrap="square" rtlCol="0" anchor="ctr"/>
          <a:lstStyle/>
          <a:p>
            <a:pPr indent="0" marL="0">
              <a:buNone/>
            </a:pPr>
            <a:r>
              <a:rPr lang="en-US" sz="1900" b="1" dirty="0">
                <a:solidFill>
                  <a:srgbClr val="16302F"/>
                </a:solidFill>
                <a:latin typeface="Calibri" pitchFamily="34" charset="0"/>
                <a:ea typeface="Calibri" pitchFamily="34" charset="-122"/>
                <a:cs typeface="Calibri" pitchFamily="34" charset="-120"/>
              </a:rPr>
              <a:t>Google Search</a:t>
            </a:r>
            <a:endParaRPr lang="en-US" sz="1900" dirty="0"/>
          </a:p>
        </p:txBody>
      </p:sp>
      <p:sp>
        <p:nvSpPr>
          <p:cNvPr id="8" name="Text 6"/>
          <p:cNvSpPr/>
          <p:nvPr/>
        </p:nvSpPr>
        <p:spPr>
          <a:xfrm>
            <a:off x="1783080" y="2176272"/>
            <a:ext cx="3886200" cy="1280160"/>
          </a:xfrm>
          <a:prstGeom prst="rect">
            <a:avLst/>
          </a:prstGeom>
          <a:noFill/>
          <a:ln/>
        </p:spPr>
        <p:txBody>
          <a:bodyPr wrap="square" rtlCol="0" anchor="ctr"/>
          <a:lstStyle/>
          <a:p>
            <a:pPr indent="0" marL="0">
              <a:lnSpc>
                <a:spcPts val="1700"/>
              </a:lnSpc>
              <a:buNone/>
            </a:pPr>
            <a:r>
              <a:rPr lang="en-US" sz="1300" dirty="0">
                <a:solidFill>
                  <a:srgbClr val="5C7A78"/>
                </a:solidFill>
                <a:latin typeface="Calibri" pitchFamily="34" charset="0"/>
                <a:ea typeface="Calibri" pitchFamily="34" charset="-122"/>
                <a:cs typeface="Calibri" pitchFamily="34" charset="-120"/>
              </a:rPr>
              <a:t>Large-scale web search engine using indexing, relevance ranking, and query processing to return the most useful results first.</a:t>
            </a:r>
            <a:endParaRPr lang="en-US" sz="1300" dirty="0"/>
          </a:p>
        </p:txBody>
      </p:sp>
      <p:sp>
        <p:nvSpPr>
          <p:cNvPr id="9" name="Shape 7"/>
          <p:cNvSpPr/>
          <p:nvPr/>
        </p:nvSpPr>
        <p:spPr>
          <a:xfrm>
            <a:off x="6263640" y="1463040"/>
            <a:ext cx="5257800" cy="2148840"/>
          </a:xfrm>
          <a:prstGeom prst="roundRect">
            <a:avLst>
              <a:gd name="adj" fmla="val 4255"/>
            </a:avLst>
          </a:prstGeom>
          <a:solidFill>
            <a:srgbClr val="F2FAF9"/>
          </a:solidFill>
          <a:ln w="12700">
            <a:solidFill>
              <a:srgbClr val="D8ECEA"/>
            </a:solidFill>
            <a:prstDash val="solid"/>
          </a:ln>
        </p:spPr>
      </p:sp>
      <p:sp>
        <p:nvSpPr>
          <p:cNvPr id="10" name="Shape 8"/>
          <p:cNvSpPr/>
          <p:nvPr/>
        </p:nvSpPr>
        <p:spPr>
          <a:xfrm>
            <a:off x="6537960" y="1737360"/>
            <a:ext cx="685800" cy="685800"/>
          </a:xfrm>
          <a:prstGeom prst="ellipse">
            <a:avLst/>
          </a:prstGeom>
          <a:solidFill>
            <a:srgbClr val="028090"/>
          </a:solidFill>
          <a:ln/>
        </p:spPr>
      </p:sp>
      <p:sp>
        <p:nvSpPr>
          <p:cNvPr id="11" name="Text 9"/>
          <p:cNvSpPr/>
          <p:nvPr/>
        </p:nvSpPr>
        <p:spPr>
          <a:xfrm>
            <a:off x="6537960" y="1737360"/>
            <a:ext cx="685800" cy="685800"/>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a:t>
            </a:r>
            <a:endParaRPr lang="en-US" sz="2600" dirty="0"/>
          </a:p>
        </p:txBody>
      </p:sp>
      <p:sp>
        <p:nvSpPr>
          <p:cNvPr id="12" name="Text 10"/>
          <p:cNvSpPr/>
          <p:nvPr/>
        </p:nvSpPr>
        <p:spPr>
          <a:xfrm>
            <a:off x="7406640" y="1719072"/>
            <a:ext cx="3886200" cy="457200"/>
          </a:xfrm>
          <a:prstGeom prst="rect">
            <a:avLst/>
          </a:prstGeom>
          <a:noFill/>
          <a:ln/>
        </p:spPr>
        <p:txBody>
          <a:bodyPr wrap="square" rtlCol="0" anchor="ctr"/>
          <a:lstStyle/>
          <a:p>
            <a:pPr indent="0" marL="0">
              <a:buNone/>
            </a:pPr>
            <a:r>
              <a:rPr lang="en-US" sz="1900" b="1" dirty="0">
                <a:solidFill>
                  <a:srgbClr val="16302F"/>
                </a:solidFill>
                <a:latin typeface="Calibri" pitchFamily="34" charset="0"/>
                <a:ea typeface="Calibri" pitchFamily="34" charset="-122"/>
                <a:cs typeface="Calibri" pitchFamily="34" charset="-120"/>
              </a:rPr>
              <a:t>Apache Lucene</a:t>
            </a:r>
            <a:endParaRPr lang="en-US" sz="1900" dirty="0"/>
          </a:p>
        </p:txBody>
      </p:sp>
      <p:sp>
        <p:nvSpPr>
          <p:cNvPr id="13" name="Text 11"/>
          <p:cNvSpPr/>
          <p:nvPr/>
        </p:nvSpPr>
        <p:spPr>
          <a:xfrm>
            <a:off x="7406640" y="2176272"/>
            <a:ext cx="3886200" cy="1280160"/>
          </a:xfrm>
          <a:prstGeom prst="rect">
            <a:avLst/>
          </a:prstGeom>
          <a:noFill/>
          <a:ln/>
        </p:spPr>
        <p:txBody>
          <a:bodyPr wrap="square" rtlCol="0" anchor="ctr"/>
          <a:lstStyle/>
          <a:p>
            <a:pPr indent="0" marL="0">
              <a:lnSpc>
                <a:spcPts val="1700"/>
              </a:lnSpc>
              <a:buNone/>
            </a:pPr>
            <a:r>
              <a:rPr lang="en-US" sz="1300" dirty="0">
                <a:solidFill>
                  <a:srgbClr val="5C7A78"/>
                </a:solidFill>
                <a:latin typeface="Calibri" pitchFamily="34" charset="0"/>
                <a:ea typeface="Calibri" pitchFamily="34" charset="-122"/>
                <a:cs typeface="Calibri" pitchFamily="34" charset="-120"/>
              </a:rPr>
              <a:t>Open-source indexing and search library that pioneered efficient inverted-index techniques for fast full-text retrieval.</a:t>
            </a:r>
            <a:endParaRPr lang="en-US" sz="1300" dirty="0"/>
          </a:p>
        </p:txBody>
      </p:sp>
      <p:sp>
        <p:nvSpPr>
          <p:cNvPr id="14" name="Shape 12"/>
          <p:cNvSpPr/>
          <p:nvPr/>
        </p:nvSpPr>
        <p:spPr>
          <a:xfrm>
            <a:off x="640080" y="3886200"/>
            <a:ext cx="5257800" cy="2148840"/>
          </a:xfrm>
          <a:prstGeom prst="roundRect">
            <a:avLst>
              <a:gd name="adj" fmla="val 4255"/>
            </a:avLst>
          </a:prstGeom>
          <a:solidFill>
            <a:srgbClr val="F2FAF9"/>
          </a:solidFill>
          <a:ln w="12700">
            <a:solidFill>
              <a:srgbClr val="D8ECEA"/>
            </a:solidFill>
            <a:prstDash val="solid"/>
          </a:ln>
        </p:spPr>
      </p:sp>
      <p:sp>
        <p:nvSpPr>
          <p:cNvPr id="15" name="Shape 13"/>
          <p:cNvSpPr/>
          <p:nvPr/>
        </p:nvSpPr>
        <p:spPr>
          <a:xfrm>
            <a:off x="914400" y="4160520"/>
            <a:ext cx="685800" cy="685800"/>
          </a:xfrm>
          <a:prstGeom prst="ellipse">
            <a:avLst/>
          </a:prstGeom>
          <a:solidFill>
            <a:srgbClr val="028090"/>
          </a:solidFill>
          <a:ln/>
        </p:spPr>
      </p:sp>
      <p:sp>
        <p:nvSpPr>
          <p:cNvPr id="16" name="Text 14"/>
          <p:cNvSpPr/>
          <p:nvPr/>
        </p:nvSpPr>
        <p:spPr>
          <a:xfrm>
            <a:off x="914400" y="4160520"/>
            <a:ext cx="685800" cy="685800"/>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E</a:t>
            </a:r>
            <a:endParaRPr lang="en-US" sz="2600" dirty="0"/>
          </a:p>
        </p:txBody>
      </p:sp>
      <p:sp>
        <p:nvSpPr>
          <p:cNvPr id="17" name="Text 15"/>
          <p:cNvSpPr/>
          <p:nvPr/>
        </p:nvSpPr>
        <p:spPr>
          <a:xfrm>
            <a:off x="1783080" y="4142232"/>
            <a:ext cx="3886200" cy="457200"/>
          </a:xfrm>
          <a:prstGeom prst="rect">
            <a:avLst/>
          </a:prstGeom>
          <a:noFill/>
          <a:ln/>
        </p:spPr>
        <p:txBody>
          <a:bodyPr wrap="square" rtlCol="0" anchor="ctr"/>
          <a:lstStyle/>
          <a:p>
            <a:pPr indent="0" marL="0">
              <a:buNone/>
            </a:pPr>
            <a:r>
              <a:rPr lang="en-US" sz="1900" b="1" dirty="0">
                <a:solidFill>
                  <a:srgbClr val="16302F"/>
                </a:solidFill>
                <a:latin typeface="Calibri" pitchFamily="34" charset="0"/>
                <a:ea typeface="Calibri" pitchFamily="34" charset="-122"/>
                <a:cs typeface="Calibri" pitchFamily="34" charset="-120"/>
              </a:rPr>
              <a:t>Elasticsearch</a:t>
            </a:r>
            <a:endParaRPr lang="en-US" sz="1900" dirty="0"/>
          </a:p>
        </p:txBody>
      </p:sp>
      <p:sp>
        <p:nvSpPr>
          <p:cNvPr id="18" name="Text 16"/>
          <p:cNvSpPr/>
          <p:nvPr/>
        </p:nvSpPr>
        <p:spPr>
          <a:xfrm>
            <a:off x="1783080" y="4599432"/>
            <a:ext cx="3886200" cy="1280160"/>
          </a:xfrm>
          <a:prstGeom prst="rect">
            <a:avLst/>
          </a:prstGeom>
          <a:noFill/>
          <a:ln/>
        </p:spPr>
        <p:txBody>
          <a:bodyPr wrap="square" rtlCol="0" anchor="ctr"/>
          <a:lstStyle/>
          <a:p>
            <a:pPr indent="0" marL="0">
              <a:lnSpc>
                <a:spcPts val="1700"/>
              </a:lnSpc>
              <a:buNone/>
            </a:pPr>
            <a:r>
              <a:rPr lang="en-US" sz="1300" dirty="0">
                <a:solidFill>
                  <a:srgbClr val="5C7A78"/>
                </a:solidFill>
                <a:latin typeface="Calibri" pitchFamily="34" charset="0"/>
                <a:ea typeface="Calibri" pitchFamily="34" charset="-122"/>
                <a:cs typeface="Calibri" pitchFamily="34" charset="-120"/>
              </a:rPr>
              <a:t>Distributed search engine built on Lucene, showing how indexing and ranking can scale across large document collections.</a:t>
            </a:r>
            <a:endParaRPr lang="en-US" sz="1300" dirty="0"/>
          </a:p>
        </p:txBody>
      </p:sp>
      <p:sp>
        <p:nvSpPr>
          <p:cNvPr id="19" name="Shape 17"/>
          <p:cNvSpPr/>
          <p:nvPr/>
        </p:nvSpPr>
        <p:spPr>
          <a:xfrm>
            <a:off x="6263640" y="3886200"/>
            <a:ext cx="5257800" cy="2148840"/>
          </a:xfrm>
          <a:prstGeom prst="roundRect">
            <a:avLst>
              <a:gd name="adj" fmla="val 4255"/>
            </a:avLst>
          </a:prstGeom>
          <a:solidFill>
            <a:srgbClr val="F2FAF9"/>
          </a:solidFill>
          <a:ln w="12700">
            <a:solidFill>
              <a:srgbClr val="D8ECEA"/>
            </a:solidFill>
            <a:prstDash val="solid"/>
          </a:ln>
        </p:spPr>
      </p:sp>
      <p:sp>
        <p:nvSpPr>
          <p:cNvPr id="20" name="Shape 18"/>
          <p:cNvSpPr/>
          <p:nvPr/>
        </p:nvSpPr>
        <p:spPr>
          <a:xfrm>
            <a:off x="6537960" y="4160520"/>
            <a:ext cx="685800" cy="685800"/>
          </a:xfrm>
          <a:prstGeom prst="ellipse">
            <a:avLst/>
          </a:prstGeom>
          <a:solidFill>
            <a:srgbClr val="028090"/>
          </a:solidFill>
          <a:ln/>
        </p:spPr>
      </p:sp>
      <p:sp>
        <p:nvSpPr>
          <p:cNvPr id="21" name="Text 19"/>
          <p:cNvSpPr/>
          <p:nvPr/>
        </p:nvSpPr>
        <p:spPr>
          <a:xfrm>
            <a:off x="6537960" y="4160520"/>
            <a:ext cx="685800" cy="685800"/>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a:t>
            </a:r>
            <a:endParaRPr lang="en-US" sz="2600" dirty="0"/>
          </a:p>
        </p:txBody>
      </p:sp>
      <p:sp>
        <p:nvSpPr>
          <p:cNvPr id="22" name="Text 20"/>
          <p:cNvSpPr/>
          <p:nvPr/>
        </p:nvSpPr>
        <p:spPr>
          <a:xfrm>
            <a:off x="7406640" y="4142232"/>
            <a:ext cx="3886200" cy="457200"/>
          </a:xfrm>
          <a:prstGeom prst="rect">
            <a:avLst/>
          </a:prstGeom>
          <a:noFill/>
          <a:ln/>
        </p:spPr>
        <p:txBody>
          <a:bodyPr wrap="square" rtlCol="0" anchor="ctr"/>
          <a:lstStyle/>
          <a:p>
            <a:pPr indent="0" marL="0">
              <a:buNone/>
            </a:pPr>
            <a:r>
              <a:rPr lang="en-US" sz="1900" b="1" dirty="0">
                <a:solidFill>
                  <a:srgbClr val="16302F"/>
                </a:solidFill>
                <a:latin typeface="Calibri" pitchFamily="34" charset="0"/>
                <a:ea typeface="Calibri" pitchFamily="34" charset="-122"/>
                <a:cs typeface="Calibri" pitchFamily="34" charset="-120"/>
              </a:rPr>
              <a:t>Academic Mini-Projects</a:t>
            </a:r>
            <a:endParaRPr lang="en-US" sz="1900" dirty="0"/>
          </a:p>
        </p:txBody>
      </p:sp>
      <p:sp>
        <p:nvSpPr>
          <p:cNvPr id="23" name="Text 21"/>
          <p:cNvSpPr/>
          <p:nvPr/>
        </p:nvSpPr>
        <p:spPr>
          <a:xfrm>
            <a:off x="7406640" y="4599432"/>
            <a:ext cx="3886200" cy="1280160"/>
          </a:xfrm>
          <a:prstGeom prst="rect">
            <a:avLst/>
          </a:prstGeom>
          <a:noFill/>
          <a:ln/>
        </p:spPr>
        <p:txBody>
          <a:bodyPr wrap="square" rtlCol="0" anchor="ctr"/>
          <a:lstStyle/>
          <a:p>
            <a:pPr indent="0" marL="0">
              <a:lnSpc>
                <a:spcPts val="1700"/>
              </a:lnSpc>
              <a:buNone/>
            </a:pPr>
            <a:r>
              <a:rPr lang="en-US" sz="1300" dirty="0">
                <a:solidFill>
                  <a:srgbClr val="5C7A78"/>
                </a:solidFill>
                <a:latin typeface="Calibri" pitchFamily="34" charset="0"/>
                <a:ea typeface="Calibri" pitchFamily="34" charset="-122"/>
                <a:cs typeface="Calibri" pitchFamily="34" charset="-120"/>
              </a:rPr>
              <a:t>Prior coursework implementing basic keyword and Boolean search over small document sets, reviewed for design ideas.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2E33"/>
        </a:solidFill>
      </p:bgPr>
    </p:bg>
    <p:spTree>
      <p:nvGrpSpPr>
        <p:cNvPr id="1" name=""/>
        <p:cNvGrpSpPr/>
        <p:nvPr/>
      </p:nvGrpSpPr>
      <p:grpSpPr>
        <a:xfrm>
          <a:off x="0" y="0"/>
          <a:ext cx="0" cy="0"/>
          <a:chOff x="0" y="0"/>
          <a:chExt cx="0" cy="0"/>
        </a:xfrm>
      </p:grpSpPr>
      <p:sp>
        <p:nvSpPr>
          <p:cNvPr id="2" name="Text 0"/>
          <p:cNvSpPr/>
          <p:nvPr/>
        </p:nvSpPr>
        <p:spPr>
          <a:xfrm>
            <a:off x="640080" y="457200"/>
            <a:ext cx="7315200" cy="64008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Methodology</a:t>
            </a:r>
            <a:endParaRPr lang="en-US" sz="3400" dirty="0"/>
          </a:p>
        </p:txBody>
      </p:sp>
      <p:sp>
        <p:nvSpPr>
          <p:cNvPr id="3" name="Shape 1"/>
          <p:cNvSpPr/>
          <p:nvPr/>
        </p:nvSpPr>
        <p:spPr>
          <a:xfrm>
            <a:off x="685800" y="1143000"/>
            <a:ext cx="1280160" cy="0"/>
          </a:xfrm>
          <a:prstGeom prst="line">
            <a:avLst/>
          </a:prstGeom>
          <a:noFill/>
          <a:ln w="38100">
            <a:solidFill>
              <a:srgbClr val="02C39A"/>
            </a:solidFill>
            <a:prstDash val="solid"/>
          </a:ln>
        </p:spPr>
      </p:sp>
      <p:sp>
        <p:nvSpPr>
          <p:cNvPr id="4" name="Shape 2"/>
          <p:cNvSpPr/>
          <p:nvPr/>
        </p:nvSpPr>
        <p:spPr>
          <a:xfrm>
            <a:off x="640080" y="1508760"/>
            <a:ext cx="3429000" cy="2468880"/>
          </a:xfrm>
          <a:prstGeom prst="roundRect">
            <a:avLst>
              <a:gd name="adj" fmla="val 3704"/>
            </a:avLst>
          </a:prstGeom>
          <a:solidFill>
            <a:srgbClr val="0F3A40"/>
          </a:solidFill>
          <a:ln/>
        </p:spPr>
      </p:sp>
      <p:sp>
        <p:nvSpPr>
          <p:cNvPr id="5" name="Shape 3"/>
          <p:cNvSpPr/>
          <p:nvPr/>
        </p:nvSpPr>
        <p:spPr>
          <a:xfrm>
            <a:off x="896112" y="1764792"/>
            <a:ext cx="502920" cy="502920"/>
          </a:xfrm>
          <a:prstGeom prst="ellipse">
            <a:avLst/>
          </a:prstGeom>
          <a:solidFill>
            <a:srgbClr val="028090"/>
          </a:solidFill>
          <a:ln/>
        </p:spPr>
      </p:sp>
      <p:sp>
        <p:nvSpPr>
          <p:cNvPr id="6" name="Text 4"/>
          <p:cNvSpPr/>
          <p:nvPr/>
        </p:nvSpPr>
        <p:spPr>
          <a:xfrm>
            <a:off x="896112" y="1764792"/>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896112" y="2423160"/>
            <a:ext cx="2916936" cy="50292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Document Collection</a:t>
            </a:r>
            <a:endParaRPr lang="en-US" sz="1450" dirty="0"/>
          </a:p>
        </p:txBody>
      </p:sp>
      <p:sp>
        <p:nvSpPr>
          <p:cNvPr id="8" name="Text 6"/>
          <p:cNvSpPr/>
          <p:nvPr/>
        </p:nvSpPr>
        <p:spPr>
          <a:xfrm>
            <a:off x="896112" y="2926080"/>
            <a:ext cx="2916936" cy="914400"/>
          </a:xfrm>
          <a:prstGeom prst="rect">
            <a:avLst/>
          </a:prstGeom>
          <a:noFill/>
          <a:ln/>
        </p:spPr>
        <p:txBody>
          <a:bodyPr wrap="square" rtlCol="0" anchor="ctr"/>
          <a:lstStyle/>
          <a:p>
            <a:pPr indent="0" marL="0">
              <a:lnSpc>
                <a:spcPts val="1500"/>
              </a:lnSpc>
              <a:buNone/>
            </a:pPr>
            <a:r>
              <a:rPr lang="en-US" sz="1150" dirty="0">
                <a:solidFill>
                  <a:srgbClr val="C9E3E0"/>
                </a:solidFill>
                <a:latin typeface="Calibri" pitchFamily="34" charset="0"/>
                <a:ea typeface="Calibri" pitchFamily="34" charset="-122"/>
                <a:cs typeface="Calibri" pitchFamily="34" charset="-120"/>
              </a:rPr>
              <a:t>Gather and pre-process the text document set that will be indexed and searched.</a:t>
            </a:r>
            <a:endParaRPr lang="en-US" sz="1150" dirty="0"/>
          </a:p>
        </p:txBody>
      </p:sp>
      <p:sp>
        <p:nvSpPr>
          <p:cNvPr id="9" name="Text 7"/>
          <p:cNvSpPr/>
          <p:nvPr/>
        </p:nvSpPr>
        <p:spPr>
          <a:xfrm>
            <a:off x="4014216" y="1819656"/>
            <a:ext cx="402336" cy="365760"/>
          </a:xfrm>
          <a:prstGeom prst="rect">
            <a:avLst/>
          </a:prstGeom>
          <a:noFill/>
          <a:ln/>
        </p:spPr>
        <p:txBody>
          <a:bodyPr wrap="square" rtlCol="0" anchor="ctr"/>
          <a:lstStyle/>
          <a:p>
            <a:pPr algn="ctr" indent="0" marL="0">
              <a:buNone/>
            </a:pPr>
            <a:r>
              <a:rPr lang="en-US" sz="1600" b="1" dirty="0">
                <a:solidFill>
                  <a:srgbClr val="02C39A"/>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4361688" y="1508760"/>
            <a:ext cx="3429000" cy="2468880"/>
          </a:xfrm>
          <a:prstGeom prst="roundRect">
            <a:avLst>
              <a:gd name="adj" fmla="val 3704"/>
            </a:avLst>
          </a:prstGeom>
          <a:solidFill>
            <a:srgbClr val="0F3A40"/>
          </a:solidFill>
          <a:ln/>
        </p:spPr>
      </p:sp>
      <p:sp>
        <p:nvSpPr>
          <p:cNvPr id="11" name="Shape 9"/>
          <p:cNvSpPr/>
          <p:nvPr/>
        </p:nvSpPr>
        <p:spPr>
          <a:xfrm>
            <a:off x="4617720" y="1764792"/>
            <a:ext cx="502920" cy="502920"/>
          </a:xfrm>
          <a:prstGeom prst="ellipse">
            <a:avLst/>
          </a:prstGeom>
          <a:solidFill>
            <a:srgbClr val="00A896"/>
          </a:solidFill>
          <a:ln/>
        </p:spPr>
      </p:sp>
      <p:sp>
        <p:nvSpPr>
          <p:cNvPr id="12" name="Text 10"/>
          <p:cNvSpPr/>
          <p:nvPr/>
        </p:nvSpPr>
        <p:spPr>
          <a:xfrm>
            <a:off x="4617720" y="1764792"/>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4617720" y="2423160"/>
            <a:ext cx="2916936" cy="50292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Text Pre-processing</a:t>
            </a:r>
            <a:endParaRPr lang="en-US" sz="1450" dirty="0"/>
          </a:p>
        </p:txBody>
      </p:sp>
      <p:sp>
        <p:nvSpPr>
          <p:cNvPr id="14" name="Text 12"/>
          <p:cNvSpPr/>
          <p:nvPr/>
        </p:nvSpPr>
        <p:spPr>
          <a:xfrm>
            <a:off x="4617720" y="2926080"/>
            <a:ext cx="2916936" cy="914400"/>
          </a:xfrm>
          <a:prstGeom prst="rect">
            <a:avLst/>
          </a:prstGeom>
          <a:noFill/>
          <a:ln/>
        </p:spPr>
        <p:txBody>
          <a:bodyPr wrap="square" rtlCol="0" anchor="ctr"/>
          <a:lstStyle/>
          <a:p>
            <a:pPr indent="0" marL="0">
              <a:lnSpc>
                <a:spcPts val="1500"/>
              </a:lnSpc>
              <a:buNone/>
            </a:pPr>
            <a:r>
              <a:rPr lang="en-US" sz="1150" dirty="0">
                <a:solidFill>
                  <a:srgbClr val="C9E3E0"/>
                </a:solidFill>
                <a:latin typeface="Calibri" pitchFamily="34" charset="0"/>
                <a:ea typeface="Calibri" pitchFamily="34" charset="-122"/>
                <a:cs typeface="Calibri" pitchFamily="34" charset="-120"/>
              </a:rPr>
              <a:t>Tokenize text, remove stop words, and normalize (lowercasing, stemming) to prepare clean terms.</a:t>
            </a:r>
            <a:endParaRPr lang="en-US" sz="1150" dirty="0"/>
          </a:p>
        </p:txBody>
      </p:sp>
      <p:sp>
        <p:nvSpPr>
          <p:cNvPr id="15" name="Text 13"/>
          <p:cNvSpPr/>
          <p:nvPr/>
        </p:nvSpPr>
        <p:spPr>
          <a:xfrm>
            <a:off x="7735824" y="1819656"/>
            <a:ext cx="402336" cy="365760"/>
          </a:xfrm>
          <a:prstGeom prst="rect">
            <a:avLst/>
          </a:prstGeom>
          <a:noFill/>
          <a:ln/>
        </p:spPr>
        <p:txBody>
          <a:bodyPr wrap="square" rtlCol="0" anchor="ctr"/>
          <a:lstStyle/>
          <a:p>
            <a:pPr algn="ctr" indent="0" marL="0">
              <a:buNone/>
            </a:pPr>
            <a:r>
              <a:rPr lang="en-US" sz="1600" b="1" dirty="0">
                <a:solidFill>
                  <a:srgbClr val="02C39A"/>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8083296" y="1508760"/>
            <a:ext cx="3429000" cy="2468880"/>
          </a:xfrm>
          <a:prstGeom prst="roundRect">
            <a:avLst>
              <a:gd name="adj" fmla="val 3704"/>
            </a:avLst>
          </a:prstGeom>
          <a:solidFill>
            <a:srgbClr val="0F3A40"/>
          </a:solidFill>
          <a:ln/>
        </p:spPr>
      </p:sp>
      <p:sp>
        <p:nvSpPr>
          <p:cNvPr id="17" name="Shape 15"/>
          <p:cNvSpPr/>
          <p:nvPr/>
        </p:nvSpPr>
        <p:spPr>
          <a:xfrm>
            <a:off x="8339328" y="1764792"/>
            <a:ext cx="502920" cy="502920"/>
          </a:xfrm>
          <a:prstGeom prst="ellipse">
            <a:avLst/>
          </a:prstGeom>
          <a:solidFill>
            <a:srgbClr val="028090"/>
          </a:solidFill>
          <a:ln/>
        </p:spPr>
      </p:sp>
      <p:sp>
        <p:nvSpPr>
          <p:cNvPr id="18" name="Text 16"/>
          <p:cNvSpPr/>
          <p:nvPr/>
        </p:nvSpPr>
        <p:spPr>
          <a:xfrm>
            <a:off x="8339328" y="1764792"/>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9" name="Text 17"/>
          <p:cNvSpPr/>
          <p:nvPr/>
        </p:nvSpPr>
        <p:spPr>
          <a:xfrm>
            <a:off x="8339328" y="2423160"/>
            <a:ext cx="2916936" cy="50292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Indexing</a:t>
            </a:r>
            <a:endParaRPr lang="en-US" sz="1450" dirty="0"/>
          </a:p>
        </p:txBody>
      </p:sp>
      <p:sp>
        <p:nvSpPr>
          <p:cNvPr id="20" name="Text 18"/>
          <p:cNvSpPr/>
          <p:nvPr/>
        </p:nvSpPr>
        <p:spPr>
          <a:xfrm>
            <a:off x="8339328" y="2926080"/>
            <a:ext cx="2916936" cy="914400"/>
          </a:xfrm>
          <a:prstGeom prst="rect">
            <a:avLst/>
          </a:prstGeom>
          <a:noFill/>
          <a:ln/>
        </p:spPr>
        <p:txBody>
          <a:bodyPr wrap="square" rtlCol="0" anchor="ctr"/>
          <a:lstStyle/>
          <a:p>
            <a:pPr indent="0" marL="0">
              <a:lnSpc>
                <a:spcPts val="1500"/>
              </a:lnSpc>
              <a:buNone/>
            </a:pPr>
            <a:r>
              <a:rPr lang="en-US" sz="1150" dirty="0">
                <a:solidFill>
                  <a:srgbClr val="C9E3E0"/>
                </a:solidFill>
                <a:latin typeface="Calibri" pitchFamily="34" charset="0"/>
                <a:ea typeface="Calibri" pitchFamily="34" charset="-122"/>
                <a:cs typeface="Calibri" pitchFamily="34" charset="-120"/>
              </a:rPr>
              <a:t>Build an inverted index mapping each term to the documents and positions where it appears.</a:t>
            </a:r>
            <a:endParaRPr lang="en-US" sz="1150" dirty="0"/>
          </a:p>
        </p:txBody>
      </p:sp>
      <p:sp>
        <p:nvSpPr>
          <p:cNvPr id="21" name="Shape 19"/>
          <p:cNvSpPr/>
          <p:nvPr/>
        </p:nvSpPr>
        <p:spPr>
          <a:xfrm>
            <a:off x="640080" y="4251960"/>
            <a:ext cx="3429000" cy="2468880"/>
          </a:xfrm>
          <a:prstGeom prst="roundRect">
            <a:avLst>
              <a:gd name="adj" fmla="val 3704"/>
            </a:avLst>
          </a:prstGeom>
          <a:solidFill>
            <a:srgbClr val="0F3A40"/>
          </a:solidFill>
          <a:ln/>
        </p:spPr>
      </p:sp>
      <p:sp>
        <p:nvSpPr>
          <p:cNvPr id="22" name="Shape 20"/>
          <p:cNvSpPr/>
          <p:nvPr/>
        </p:nvSpPr>
        <p:spPr>
          <a:xfrm>
            <a:off x="896112" y="4507992"/>
            <a:ext cx="502920" cy="502920"/>
          </a:xfrm>
          <a:prstGeom prst="ellipse">
            <a:avLst/>
          </a:prstGeom>
          <a:solidFill>
            <a:srgbClr val="00A896"/>
          </a:solidFill>
          <a:ln/>
        </p:spPr>
      </p:sp>
      <p:sp>
        <p:nvSpPr>
          <p:cNvPr id="23" name="Text 21"/>
          <p:cNvSpPr/>
          <p:nvPr/>
        </p:nvSpPr>
        <p:spPr>
          <a:xfrm>
            <a:off x="896112" y="4507992"/>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Text 22"/>
          <p:cNvSpPr/>
          <p:nvPr/>
        </p:nvSpPr>
        <p:spPr>
          <a:xfrm>
            <a:off x="896112" y="5166360"/>
            <a:ext cx="2916936" cy="50292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Query Processing</a:t>
            </a:r>
            <a:endParaRPr lang="en-US" sz="1450" dirty="0"/>
          </a:p>
        </p:txBody>
      </p:sp>
      <p:sp>
        <p:nvSpPr>
          <p:cNvPr id="25" name="Text 23"/>
          <p:cNvSpPr/>
          <p:nvPr/>
        </p:nvSpPr>
        <p:spPr>
          <a:xfrm>
            <a:off x="896112" y="5669280"/>
            <a:ext cx="2916936" cy="914400"/>
          </a:xfrm>
          <a:prstGeom prst="rect">
            <a:avLst/>
          </a:prstGeom>
          <a:noFill/>
          <a:ln/>
        </p:spPr>
        <p:txBody>
          <a:bodyPr wrap="square" rtlCol="0" anchor="ctr"/>
          <a:lstStyle/>
          <a:p>
            <a:pPr indent="0" marL="0">
              <a:lnSpc>
                <a:spcPts val="1500"/>
              </a:lnSpc>
              <a:buNone/>
            </a:pPr>
            <a:r>
              <a:rPr lang="en-US" sz="1150" dirty="0">
                <a:solidFill>
                  <a:srgbClr val="C9E3E0"/>
                </a:solidFill>
                <a:latin typeface="Calibri" pitchFamily="34" charset="0"/>
                <a:ea typeface="Calibri" pitchFamily="34" charset="-122"/>
                <a:cs typeface="Calibri" pitchFamily="34" charset="-120"/>
              </a:rPr>
              <a:t>Parse the user's query and match it against the index using keyword, phrase, or fuzzy matching.</a:t>
            </a:r>
            <a:endParaRPr lang="en-US" sz="1150" dirty="0"/>
          </a:p>
        </p:txBody>
      </p:sp>
      <p:sp>
        <p:nvSpPr>
          <p:cNvPr id="26" name="Text 24"/>
          <p:cNvSpPr/>
          <p:nvPr/>
        </p:nvSpPr>
        <p:spPr>
          <a:xfrm>
            <a:off x="4014216" y="4562856"/>
            <a:ext cx="402336" cy="365760"/>
          </a:xfrm>
          <a:prstGeom prst="rect">
            <a:avLst/>
          </a:prstGeom>
          <a:noFill/>
          <a:ln/>
        </p:spPr>
        <p:txBody>
          <a:bodyPr wrap="square" rtlCol="0" anchor="ctr"/>
          <a:lstStyle/>
          <a:p>
            <a:pPr algn="ctr" indent="0" marL="0">
              <a:buNone/>
            </a:pPr>
            <a:r>
              <a:rPr lang="en-US" sz="1600" b="1" dirty="0">
                <a:solidFill>
                  <a:srgbClr val="02C39A"/>
                </a:solidFill>
                <a:latin typeface="Calibri" pitchFamily="34" charset="0"/>
                <a:ea typeface="Calibri" pitchFamily="34" charset="-122"/>
                <a:cs typeface="Calibri" pitchFamily="34" charset="-120"/>
              </a:rPr>
              <a:t>→</a:t>
            </a:r>
            <a:endParaRPr lang="en-US" sz="1600" dirty="0"/>
          </a:p>
        </p:txBody>
      </p:sp>
      <p:sp>
        <p:nvSpPr>
          <p:cNvPr id="27" name="Shape 25"/>
          <p:cNvSpPr/>
          <p:nvPr/>
        </p:nvSpPr>
        <p:spPr>
          <a:xfrm>
            <a:off x="4361688" y="4251960"/>
            <a:ext cx="3429000" cy="2468880"/>
          </a:xfrm>
          <a:prstGeom prst="roundRect">
            <a:avLst>
              <a:gd name="adj" fmla="val 3704"/>
            </a:avLst>
          </a:prstGeom>
          <a:solidFill>
            <a:srgbClr val="0F3A40"/>
          </a:solidFill>
          <a:ln/>
        </p:spPr>
      </p:sp>
      <p:sp>
        <p:nvSpPr>
          <p:cNvPr id="28" name="Shape 26"/>
          <p:cNvSpPr/>
          <p:nvPr/>
        </p:nvSpPr>
        <p:spPr>
          <a:xfrm>
            <a:off x="4617720" y="4507992"/>
            <a:ext cx="502920" cy="502920"/>
          </a:xfrm>
          <a:prstGeom prst="ellipse">
            <a:avLst/>
          </a:prstGeom>
          <a:solidFill>
            <a:srgbClr val="028090"/>
          </a:solidFill>
          <a:ln/>
        </p:spPr>
      </p:sp>
      <p:sp>
        <p:nvSpPr>
          <p:cNvPr id="29" name="Text 27"/>
          <p:cNvSpPr/>
          <p:nvPr/>
        </p:nvSpPr>
        <p:spPr>
          <a:xfrm>
            <a:off x="4617720" y="4507992"/>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0" name="Text 28"/>
          <p:cNvSpPr/>
          <p:nvPr/>
        </p:nvSpPr>
        <p:spPr>
          <a:xfrm>
            <a:off x="4617720" y="5166360"/>
            <a:ext cx="2916936" cy="50292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Ranking</a:t>
            </a:r>
            <a:endParaRPr lang="en-US" sz="1450" dirty="0"/>
          </a:p>
        </p:txBody>
      </p:sp>
      <p:sp>
        <p:nvSpPr>
          <p:cNvPr id="31" name="Text 29"/>
          <p:cNvSpPr/>
          <p:nvPr/>
        </p:nvSpPr>
        <p:spPr>
          <a:xfrm>
            <a:off x="4617720" y="5669280"/>
            <a:ext cx="2916936" cy="914400"/>
          </a:xfrm>
          <a:prstGeom prst="rect">
            <a:avLst/>
          </a:prstGeom>
          <a:noFill/>
          <a:ln/>
        </p:spPr>
        <p:txBody>
          <a:bodyPr wrap="square" rtlCol="0" anchor="ctr"/>
          <a:lstStyle/>
          <a:p>
            <a:pPr indent="0" marL="0">
              <a:lnSpc>
                <a:spcPts val="1500"/>
              </a:lnSpc>
              <a:buNone/>
            </a:pPr>
            <a:r>
              <a:rPr lang="en-US" sz="1150" dirty="0">
                <a:solidFill>
                  <a:srgbClr val="C9E3E0"/>
                </a:solidFill>
                <a:latin typeface="Calibri" pitchFamily="34" charset="0"/>
                <a:ea typeface="Calibri" pitchFamily="34" charset="-122"/>
                <a:cs typeface="Calibri" pitchFamily="34" charset="-120"/>
              </a:rPr>
              <a:t>Score and rank matching documents by relevance using term-weighting and similarity measures.</a:t>
            </a:r>
            <a:endParaRPr lang="en-US" sz="1150" dirty="0"/>
          </a:p>
        </p:txBody>
      </p:sp>
      <p:sp>
        <p:nvSpPr>
          <p:cNvPr id="32" name="Text 30"/>
          <p:cNvSpPr/>
          <p:nvPr/>
        </p:nvSpPr>
        <p:spPr>
          <a:xfrm>
            <a:off x="7735824" y="4562856"/>
            <a:ext cx="402336" cy="365760"/>
          </a:xfrm>
          <a:prstGeom prst="rect">
            <a:avLst/>
          </a:prstGeom>
          <a:noFill/>
          <a:ln/>
        </p:spPr>
        <p:txBody>
          <a:bodyPr wrap="square" rtlCol="0" anchor="ctr"/>
          <a:lstStyle/>
          <a:p>
            <a:pPr algn="ctr" indent="0" marL="0">
              <a:buNone/>
            </a:pPr>
            <a:r>
              <a:rPr lang="en-US" sz="1600" b="1" dirty="0">
                <a:solidFill>
                  <a:srgbClr val="02C39A"/>
                </a:solidFill>
                <a:latin typeface="Calibri" pitchFamily="34" charset="0"/>
                <a:ea typeface="Calibri" pitchFamily="34" charset="-122"/>
                <a:cs typeface="Calibri" pitchFamily="34" charset="-120"/>
              </a:rPr>
              <a:t>→</a:t>
            </a:r>
            <a:endParaRPr lang="en-US" sz="1600" dirty="0"/>
          </a:p>
        </p:txBody>
      </p:sp>
      <p:sp>
        <p:nvSpPr>
          <p:cNvPr id="33" name="Shape 31"/>
          <p:cNvSpPr/>
          <p:nvPr/>
        </p:nvSpPr>
        <p:spPr>
          <a:xfrm>
            <a:off x="8083296" y="4251960"/>
            <a:ext cx="3429000" cy="2468880"/>
          </a:xfrm>
          <a:prstGeom prst="roundRect">
            <a:avLst>
              <a:gd name="adj" fmla="val 3704"/>
            </a:avLst>
          </a:prstGeom>
          <a:solidFill>
            <a:srgbClr val="0F3A40"/>
          </a:solidFill>
          <a:ln/>
        </p:spPr>
      </p:sp>
      <p:sp>
        <p:nvSpPr>
          <p:cNvPr id="34" name="Shape 32"/>
          <p:cNvSpPr/>
          <p:nvPr/>
        </p:nvSpPr>
        <p:spPr>
          <a:xfrm>
            <a:off x="8339328" y="4507992"/>
            <a:ext cx="502920" cy="502920"/>
          </a:xfrm>
          <a:prstGeom prst="ellipse">
            <a:avLst/>
          </a:prstGeom>
          <a:solidFill>
            <a:srgbClr val="00A896"/>
          </a:solidFill>
          <a:ln/>
        </p:spPr>
      </p:sp>
      <p:sp>
        <p:nvSpPr>
          <p:cNvPr id="35" name="Text 33"/>
          <p:cNvSpPr/>
          <p:nvPr/>
        </p:nvSpPr>
        <p:spPr>
          <a:xfrm>
            <a:off x="8339328" y="4507992"/>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6" name="Text 34"/>
          <p:cNvSpPr/>
          <p:nvPr/>
        </p:nvSpPr>
        <p:spPr>
          <a:xfrm>
            <a:off x="8339328" y="5166360"/>
            <a:ext cx="2916936" cy="50292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Result Evaluation</a:t>
            </a:r>
            <a:endParaRPr lang="en-US" sz="1450" dirty="0"/>
          </a:p>
        </p:txBody>
      </p:sp>
      <p:sp>
        <p:nvSpPr>
          <p:cNvPr id="37" name="Text 35"/>
          <p:cNvSpPr/>
          <p:nvPr/>
        </p:nvSpPr>
        <p:spPr>
          <a:xfrm>
            <a:off x="8339328" y="5669280"/>
            <a:ext cx="2916936" cy="914400"/>
          </a:xfrm>
          <a:prstGeom prst="rect">
            <a:avLst/>
          </a:prstGeom>
          <a:noFill/>
          <a:ln/>
        </p:spPr>
        <p:txBody>
          <a:bodyPr wrap="square" rtlCol="0" anchor="ctr"/>
          <a:lstStyle/>
          <a:p>
            <a:pPr indent="0" marL="0">
              <a:lnSpc>
                <a:spcPts val="1500"/>
              </a:lnSpc>
              <a:buNone/>
            </a:pPr>
            <a:r>
              <a:rPr lang="en-US" sz="1150" dirty="0">
                <a:solidFill>
                  <a:srgbClr val="C9E3E0"/>
                </a:solidFill>
                <a:latin typeface="Calibri" pitchFamily="34" charset="0"/>
                <a:ea typeface="Calibri" pitchFamily="34" charset="-122"/>
                <a:cs typeface="Calibri" pitchFamily="34" charset="-120"/>
              </a:rPr>
              <a:t>Return ranked results to the user and analyse algorithm efficiency using time complexity.</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E33"/>
        </a:solidFill>
      </p:bgPr>
    </p:bg>
    <p:spTree>
      <p:nvGrpSpPr>
        <p:cNvPr id="1" name=""/>
        <p:cNvGrpSpPr/>
        <p:nvPr/>
      </p:nvGrpSpPr>
      <p:grpSpPr>
        <a:xfrm>
          <a:off x="0" y="0"/>
          <a:ext cx="0" cy="0"/>
          <a:chOff x="0" y="0"/>
          <a:chExt cx="0" cy="0"/>
        </a:xfrm>
      </p:grpSpPr>
      <p:sp>
        <p:nvSpPr>
          <p:cNvPr id="2" name="Shape 0"/>
          <p:cNvSpPr/>
          <p:nvPr/>
        </p:nvSpPr>
        <p:spPr>
          <a:xfrm>
            <a:off x="-1463040" y="-1645920"/>
            <a:ext cx="4389120" cy="4389120"/>
          </a:xfrm>
          <a:prstGeom prst="ellipse">
            <a:avLst/>
          </a:prstGeom>
          <a:solidFill>
            <a:srgbClr val="028090">
              <a:alpha val="40000"/>
            </a:srgbClr>
          </a:solidFill>
          <a:ln/>
        </p:spPr>
      </p:sp>
      <p:sp>
        <p:nvSpPr>
          <p:cNvPr id="3" name="Shape 1"/>
          <p:cNvSpPr/>
          <p:nvPr/>
        </p:nvSpPr>
        <p:spPr>
          <a:xfrm>
            <a:off x="9875520" y="4480560"/>
            <a:ext cx="3657600" cy="3657600"/>
          </a:xfrm>
          <a:prstGeom prst="ellipse">
            <a:avLst/>
          </a:prstGeom>
          <a:solidFill>
            <a:srgbClr val="00A896">
              <a:alpha val="40000"/>
            </a:srgbClr>
          </a:solidFill>
          <a:ln/>
        </p:spPr>
      </p:sp>
      <p:sp>
        <p:nvSpPr>
          <p:cNvPr id="4" name="Text 2"/>
          <p:cNvSpPr/>
          <p:nvPr/>
        </p:nvSpPr>
        <p:spPr>
          <a:xfrm>
            <a:off x="0" y="2468880"/>
            <a:ext cx="12161520" cy="1097280"/>
          </a:xfrm>
          <a:prstGeom prst="rect">
            <a:avLst/>
          </a:prstGeom>
          <a:noFill/>
          <a:ln/>
        </p:spPr>
        <p:txBody>
          <a:bodyPr wrap="square"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5" name="Shape 3"/>
          <p:cNvSpPr/>
          <p:nvPr/>
        </p:nvSpPr>
        <p:spPr>
          <a:xfrm>
            <a:off x="5394960" y="3611880"/>
            <a:ext cx="1371600" cy="0"/>
          </a:xfrm>
          <a:prstGeom prst="line">
            <a:avLst/>
          </a:prstGeom>
          <a:noFill/>
          <a:ln w="25400">
            <a:solidFill>
              <a:srgbClr val="02C39A"/>
            </a:solidFill>
            <a:prstDash val="solid"/>
          </a:ln>
        </p:spPr>
      </p:sp>
      <p:sp>
        <p:nvSpPr>
          <p:cNvPr id="6" name="Text 4"/>
          <p:cNvSpPr/>
          <p:nvPr/>
        </p:nvSpPr>
        <p:spPr>
          <a:xfrm>
            <a:off x="0" y="3840480"/>
            <a:ext cx="12161520" cy="457200"/>
          </a:xfrm>
          <a:prstGeom prst="rect">
            <a:avLst/>
          </a:prstGeom>
          <a:noFill/>
          <a:ln/>
        </p:spPr>
        <p:txBody>
          <a:bodyPr wrap="square" rtlCol="0" anchor="ctr"/>
          <a:lstStyle/>
          <a:p>
            <a:pPr algn="ctr" indent="0" marL="0">
              <a:buNone/>
            </a:pPr>
            <a:r>
              <a:rPr lang="en-US" sz="1600" i="1" dirty="0">
                <a:solidFill>
                  <a:srgbClr val="CFEAE8"/>
                </a:solidFill>
                <a:latin typeface="Calibri" pitchFamily="34" charset="0"/>
                <a:ea typeface="Calibri" pitchFamily="34" charset="-122"/>
                <a:cs typeface="Calibri" pitchFamily="34" charset="-120"/>
              </a:rPr>
              <a:t>Mini Search Engine – Information Retrieval System</a:t>
            </a:r>
            <a:endParaRPr lang="en-US" sz="1600" dirty="0"/>
          </a:p>
        </p:txBody>
      </p:sp>
      <p:sp>
        <p:nvSpPr>
          <p:cNvPr id="7" name="Text 5"/>
          <p:cNvSpPr/>
          <p:nvPr/>
        </p:nvSpPr>
        <p:spPr>
          <a:xfrm>
            <a:off x="0" y="4617720"/>
            <a:ext cx="1216152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Surapuraju Himasree   •   Rachapudi Nishanth</a:t>
            </a:r>
            <a:endParaRPr lang="en-US" sz="1400" dirty="0"/>
          </a:p>
        </p:txBody>
      </p:sp>
      <p:sp>
        <p:nvSpPr>
          <p:cNvPr id="8" name="Text 6"/>
          <p:cNvSpPr/>
          <p:nvPr/>
        </p:nvSpPr>
        <p:spPr>
          <a:xfrm>
            <a:off x="0" y="4983480"/>
            <a:ext cx="12161520" cy="320040"/>
          </a:xfrm>
          <a:prstGeom prst="rect">
            <a:avLst/>
          </a:prstGeom>
          <a:noFill/>
          <a:ln/>
        </p:spPr>
        <p:txBody>
          <a:bodyPr wrap="square" rtlCol="0" anchor="ctr"/>
          <a:lstStyle/>
          <a:p>
            <a:pPr algn="ctr" indent="0" marL="0">
              <a:buNone/>
            </a:pPr>
            <a:r>
              <a:rPr lang="en-US" sz="1200" dirty="0">
                <a:solidFill>
                  <a:srgbClr val="9FC7C3"/>
                </a:solidFill>
                <a:latin typeface="Calibri" pitchFamily="34" charset="0"/>
                <a:ea typeface="Calibri" pitchFamily="34" charset="-122"/>
                <a:cs typeface="Calibri" pitchFamily="34" charset="-120"/>
              </a:rPr>
              <a:t>Section 10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2026-08-18T03:08:20Z</dcterms:created>
  <dcterms:modified xsi:type="dcterms:W3CDTF">2026-08-18T03:08:20Z</dcterms:modified>
</cp:coreProperties>
</file>